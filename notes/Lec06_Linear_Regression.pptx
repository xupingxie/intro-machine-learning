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6" r:id="rId2"/>
    <p:sldId id="264" r:id="rId3"/>
    <p:sldId id="292" r:id="rId4"/>
    <p:sldId id="284" r:id="rId5"/>
    <p:sldId id="285" r:id="rId6"/>
    <p:sldId id="287" r:id="rId7"/>
    <p:sldId id="288" r:id="rId8"/>
    <p:sldId id="289" r:id="rId9"/>
    <p:sldId id="305" r:id="rId10"/>
    <p:sldId id="290" r:id="rId11"/>
    <p:sldId id="291" r:id="rId12"/>
    <p:sldId id="293" r:id="rId13"/>
    <p:sldId id="294" r:id="rId14"/>
    <p:sldId id="295" r:id="rId15"/>
    <p:sldId id="296" r:id="rId16"/>
    <p:sldId id="297" r:id="rId17"/>
    <p:sldId id="298" r:id="rId18"/>
    <p:sldId id="304" r:id="rId19"/>
    <p:sldId id="299" r:id="rId20"/>
    <p:sldId id="303" r:id="rId21"/>
    <p:sldId id="302" r:id="rId22"/>
    <p:sldId id="300" r:id="rId23"/>
    <p:sldId id="301" r:id="rId24"/>
  </p:sldIdLst>
  <p:sldSz cx="9144000" cy="5143500" type="screen16x9"/>
  <p:notesSz cx="6858000" cy="9144000"/>
  <p:embeddedFontLst>
    <p:embeddedFont>
      <p:font typeface="Montserrat" pitchFamily="2" charset="77"/>
      <p:regular r:id="rId26"/>
      <p:bold r:id="rId27"/>
      <p:italic r:id="rId28"/>
      <p:boldItalic r:id="rId29"/>
    </p:embeddedFont>
    <p:embeddedFont>
      <p:font typeface="Proxima Nova" panose="02000506030000020004"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313"/>
    <p:restoredTop sz="94637" autoAdjust="0"/>
  </p:normalViewPr>
  <p:slideViewPr>
    <p:cSldViewPr snapToGrid="0">
      <p:cViewPr varScale="1">
        <p:scale>
          <a:sx n="170" d="100"/>
          <a:sy n="170" d="100"/>
        </p:scale>
        <p:origin x="20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a1c0408c6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1c0408c6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the images in this layout pattern.  Make it your own! (And take this note off of the slides.)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139708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297887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617598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014237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418687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374669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034267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734046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27182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4059189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779656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662631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388120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985163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313207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833708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452220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9279557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753607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4288724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772174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670282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0.emf"/><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12.emf"/><Relationship Id="rId7" Type="http://schemas.openxmlformats.org/officeDocument/2006/relationships/image" Target="../media/image16.emf"/><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emf"/><Relationship Id="rId5" Type="http://schemas.openxmlformats.org/officeDocument/2006/relationships/image" Target="../media/image14.emf"/><Relationship Id="rId10" Type="http://schemas.openxmlformats.org/officeDocument/2006/relationships/image" Target="../media/image19.emf"/><Relationship Id="rId4" Type="http://schemas.openxmlformats.org/officeDocument/2006/relationships/image" Target="../media/image13.emf"/><Relationship Id="rId9" Type="http://schemas.openxmlformats.org/officeDocument/2006/relationships/image" Target="../media/image18.emf"/></Relationships>
</file>

<file path=ppt/slides/_rels/slide10.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20.emf"/><Relationship Id="rId7" Type="http://schemas.openxmlformats.org/officeDocument/2006/relationships/image" Target="../media/image22.emf"/><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1.emf"/><Relationship Id="rId5" Type="http://schemas.openxmlformats.org/officeDocument/2006/relationships/image" Target="../media/image14.emf"/><Relationship Id="rId10" Type="http://schemas.openxmlformats.org/officeDocument/2006/relationships/image" Target="../media/image25.emf"/><Relationship Id="rId4" Type="http://schemas.openxmlformats.org/officeDocument/2006/relationships/image" Target="../media/image13.emf"/><Relationship Id="rId9" Type="http://schemas.openxmlformats.org/officeDocument/2006/relationships/image" Target="../media/image24.emf"/></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3884023" y="115664"/>
            <a:ext cx="1287151" cy="529911"/>
          </a:xfrm>
          <a:prstGeom prst="rect">
            <a:avLst/>
          </a:prstGeom>
          <a:noFill/>
          <a:ln>
            <a:noFill/>
          </a:ln>
        </p:spPr>
      </p:pic>
      <p:sp>
        <p:nvSpPr>
          <p:cNvPr id="71" name="Google Shape;71;p13"/>
          <p:cNvSpPr txBox="1"/>
          <p:nvPr/>
        </p:nvSpPr>
        <p:spPr>
          <a:xfrm>
            <a:off x="2510998" y="3306975"/>
            <a:ext cx="4033200" cy="136132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Proxima Nova"/>
                <a:ea typeface="Proxima Nova"/>
                <a:cs typeface="Proxima Nova"/>
                <a:sym typeface="Proxima Nova"/>
              </a:rPr>
              <a:t>Dr</a:t>
            </a:r>
            <a:r>
              <a:rPr lang="en" sz="2200" dirty="0">
                <a:latin typeface="Proxima Nova"/>
                <a:ea typeface="Proxima Nova"/>
                <a:cs typeface="Proxima Nova"/>
                <a:sym typeface="Proxima Nova"/>
              </a:rPr>
              <a:t>. </a:t>
            </a:r>
            <a:r>
              <a:rPr lang="en" sz="2200" dirty="0" err="1">
                <a:latin typeface="Proxima Nova"/>
                <a:ea typeface="Proxima Nova"/>
                <a:cs typeface="Proxima Nova"/>
                <a:sym typeface="Proxima Nova"/>
              </a:rPr>
              <a:t>Xuping</a:t>
            </a:r>
            <a:r>
              <a:rPr lang="en" sz="2200" dirty="0">
                <a:latin typeface="Proxima Nova"/>
                <a:ea typeface="Proxima Nova"/>
                <a:cs typeface="Proxima Nova"/>
                <a:sym typeface="Proxima Nova"/>
              </a:rPr>
              <a:t> Xie</a:t>
            </a:r>
          </a:p>
          <a:p>
            <a:pPr marL="0" lvl="0" indent="0" algn="ctr" rtl="0">
              <a:spcBef>
                <a:spcPts val="0"/>
              </a:spcBef>
              <a:spcAft>
                <a:spcPts val="0"/>
              </a:spcAft>
              <a:buNone/>
            </a:pPr>
            <a:r>
              <a:rPr lang="en" sz="2200" dirty="0">
                <a:latin typeface="Proxima Nova"/>
                <a:ea typeface="Proxima Nova"/>
                <a:cs typeface="Proxima Nova"/>
                <a:sym typeface="Proxima Nova"/>
              </a:rPr>
              <a:t>Department of Math &amp; Stat</a:t>
            </a:r>
            <a:endParaRPr sz="2200" dirty="0">
              <a:latin typeface="Proxima Nova"/>
              <a:ea typeface="Proxima Nova"/>
              <a:cs typeface="Proxima Nova"/>
              <a:sym typeface="Proxima Nova"/>
            </a:endParaRPr>
          </a:p>
        </p:txBody>
      </p:sp>
      <p:sp>
        <p:nvSpPr>
          <p:cNvPr id="3" name="Google Shape;88;p15">
            <a:extLst>
              <a:ext uri="{FF2B5EF4-FFF2-40B4-BE49-F238E27FC236}">
                <a16:creationId xmlns:a16="http://schemas.microsoft.com/office/drawing/2014/main" id="{8A69568A-D55C-88EA-AEC6-F37CA9F3C3BA}"/>
              </a:ext>
            </a:extLst>
          </p:cNvPr>
          <p:cNvSpPr txBox="1">
            <a:spLocks/>
          </p:cNvSpPr>
          <p:nvPr/>
        </p:nvSpPr>
        <p:spPr>
          <a:xfrm>
            <a:off x="0" y="844731"/>
            <a:ext cx="9143999" cy="2263088"/>
          </a:xfrm>
          <a:prstGeom prst="rect">
            <a:avLst/>
          </a:prstGeom>
          <a:solidFill>
            <a:srgbClr val="073763"/>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endParaRPr lang="en-US" sz="3200" dirty="0">
              <a:solidFill>
                <a:srgbClr val="FFFFFF"/>
              </a:solidFill>
              <a:latin typeface="Montserrat"/>
              <a:ea typeface="Montserrat"/>
              <a:cs typeface="Montserrat"/>
              <a:sym typeface="Montserrat"/>
            </a:endParaRPr>
          </a:p>
          <a:p>
            <a:r>
              <a:rPr lang="en-US" sz="3200" dirty="0">
                <a:solidFill>
                  <a:srgbClr val="FFFFFF"/>
                </a:solidFill>
                <a:latin typeface="Montserrat"/>
                <a:ea typeface="Montserrat"/>
                <a:cs typeface="Montserrat"/>
                <a:sym typeface="Montserrat"/>
              </a:rPr>
              <a:t>BDA411/511</a:t>
            </a:r>
          </a:p>
          <a:p>
            <a:r>
              <a:rPr lang="en-US" sz="3200" dirty="0">
                <a:solidFill>
                  <a:srgbClr val="FFFFFF"/>
                </a:solidFill>
                <a:latin typeface="Montserrat"/>
                <a:ea typeface="Montserrat"/>
                <a:cs typeface="Montserrat"/>
                <a:sym typeface="Montserrat"/>
              </a:rPr>
              <a:t>Introduction to Machine Learning</a:t>
            </a:r>
          </a:p>
          <a:p>
            <a:r>
              <a:rPr lang="en-US" sz="3200" dirty="0">
                <a:solidFill>
                  <a:srgbClr val="FFFFFF"/>
                </a:solidFill>
                <a:latin typeface="Montserrat"/>
                <a:ea typeface="Montserrat"/>
                <a:cs typeface="Montserrat"/>
                <a:sym typeface="Montserrat"/>
              </a:rPr>
              <a:t>Linear Regression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Regression</a:t>
            </a:r>
            <a:endParaRPr dirty="0">
              <a:solidFill>
                <a:srgbClr val="FFFFFF"/>
              </a:solidFill>
              <a:latin typeface="Montserrat"/>
              <a:ea typeface="Montserrat"/>
              <a:cs typeface="Montserrat"/>
              <a:sym typeface="Montserrat"/>
            </a:endParaRPr>
          </a:p>
        </p:txBody>
      </p:sp>
      <p:pic>
        <p:nvPicPr>
          <p:cNvPr id="11" name="Picture 10">
            <a:extLst>
              <a:ext uri="{FF2B5EF4-FFF2-40B4-BE49-F238E27FC236}">
                <a16:creationId xmlns:a16="http://schemas.microsoft.com/office/drawing/2014/main" id="{81A38A89-FBB8-A3BD-76E2-47AFD2FE1387}"/>
              </a:ext>
            </a:extLst>
          </p:cNvPr>
          <p:cNvPicPr>
            <a:picLocks noChangeAspect="1"/>
          </p:cNvPicPr>
          <p:nvPr/>
        </p:nvPicPr>
        <p:blipFill>
          <a:blip r:embed="rId3"/>
          <a:stretch>
            <a:fillRect/>
          </a:stretch>
        </p:blipFill>
        <p:spPr>
          <a:xfrm>
            <a:off x="5266030" y="1052778"/>
            <a:ext cx="1315925" cy="363353"/>
          </a:xfrm>
          <a:prstGeom prst="rect">
            <a:avLst/>
          </a:prstGeom>
        </p:spPr>
      </p:pic>
      <p:sp>
        <p:nvSpPr>
          <p:cNvPr id="12" name="TextBox 11">
            <a:extLst>
              <a:ext uri="{FF2B5EF4-FFF2-40B4-BE49-F238E27FC236}">
                <a16:creationId xmlns:a16="http://schemas.microsoft.com/office/drawing/2014/main" id="{62F6C4A9-26C9-AC42-0D5A-F62BF5D0F7B6}"/>
              </a:ext>
            </a:extLst>
          </p:cNvPr>
          <p:cNvSpPr txBox="1"/>
          <p:nvPr/>
        </p:nvSpPr>
        <p:spPr>
          <a:xfrm>
            <a:off x="311700" y="982236"/>
            <a:ext cx="4954330" cy="646331"/>
          </a:xfrm>
          <a:prstGeom prst="rect">
            <a:avLst/>
          </a:prstGeom>
          <a:noFill/>
        </p:spPr>
        <p:txBody>
          <a:bodyPr wrap="square" rtlCol="0">
            <a:spAutoFit/>
          </a:bodyPr>
          <a:lstStyle/>
          <a:p>
            <a:pPr marL="342900" indent="-342900">
              <a:buFont typeface="Arial" panose="020B0604020202020204" pitchFamily="34" charset="0"/>
              <a:buChar char="•"/>
            </a:pPr>
            <a:r>
              <a:rPr lang="en-US" sz="1800" dirty="0"/>
              <a:t>Fit a function given a dataset, input x and output y (prediction)</a:t>
            </a:r>
          </a:p>
        </p:txBody>
      </p:sp>
      <p:pic>
        <p:nvPicPr>
          <p:cNvPr id="14" name="Picture 13" descr="A graph of a function&#10;&#10;Description automatically generated">
            <a:extLst>
              <a:ext uri="{FF2B5EF4-FFF2-40B4-BE49-F238E27FC236}">
                <a16:creationId xmlns:a16="http://schemas.microsoft.com/office/drawing/2014/main" id="{CF6AAB0B-4015-CB1A-5B5F-266DABA7B27B}"/>
              </a:ext>
            </a:extLst>
          </p:cNvPr>
          <p:cNvPicPr>
            <a:picLocks noChangeAspect="1"/>
          </p:cNvPicPr>
          <p:nvPr/>
        </p:nvPicPr>
        <p:blipFill>
          <a:blip r:embed="rId4"/>
          <a:stretch>
            <a:fillRect/>
          </a:stretch>
        </p:blipFill>
        <p:spPr>
          <a:xfrm>
            <a:off x="2296185" y="1708285"/>
            <a:ext cx="4551630" cy="3400491"/>
          </a:xfrm>
          <a:prstGeom prst="rect">
            <a:avLst/>
          </a:prstGeom>
        </p:spPr>
      </p:pic>
    </p:spTree>
    <p:extLst>
      <p:ext uri="{BB962C8B-B14F-4D97-AF65-F5344CB8AC3E}">
        <p14:creationId xmlns:p14="http://schemas.microsoft.com/office/powerpoint/2010/main" val="4009846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Regression</a:t>
            </a:r>
            <a:endParaRPr dirty="0">
              <a:solidFill>
                <a:srgbClr val="FFFFFF"/>
              </a:solidFill>
              <a:latin typeface="Montserrat"/>
              <a:ea typeface="Montserrat"/>
              <a:cs typeface="Montserrat"/>
              <a:sym typeface="Montserrat"/>
            </a:endParaRPr>
          </a:p>
        </p:txBody>
      </p:sp>
      <p:pic>
        <p:nvPicPr>
          <p:cNvPr id="10" name="Picture 9" descr="A math equations and formulas&#10;&#10;Description automatically generated with medium confidence">
            <a:extLst>
              <a:ext uri="{FF2B5EF4-FFF2-40B4-BE49-F238E27FC236}">
                <a16:creationId xmlns:a16="http://schemas.microsoft.com/office/drawing/2014/main" id="{9E081A37-4C34-EFA6-404A-A47996F4EBA7}"/>
              </a:ext>
            </a:extLst>
          </p:cNvPr>
          <p:cNvPicPr>
            <a:picLocks noChangeAspect="1"/>
          </p:cNvPicPr>
          <p:nvPr/>
        </p:nvPicPr>
        <p:blipFill>
          <a:blip r:embed="rId3"/>
          <a:stretch>
            <a:fillRect/>
          </a:stretch>
        </p:blipFill>
        <p:spPr>
          <a:xfrm>
            <a:off x="421513" y="1835516"/>
            <a:ext cx="8300974" cy="3120060"/>
          </a:xfrm>
          <a:prstGeom prst="rect">
            <a:avLst/>
          </a:prstGeom>
        </p:spPr>
      </p:pic>
      <p:pic>
        <p:nvPicPr>
          <p:cNvPr id="11" name="Picture 10">
            <a:extLst>
              <a:ext uri="{FF2B5EF4-FFF2-40B4-BE49-F238E27FC236}">
                <a16:creationId xmlns:a16="http://schemas.microsoft.com/office/drawing/2014/main" id="{81A38A89-FBB8-A3BD-76E2-47AFD2FE1387}"/>
              </a:ext>
            </a:extLst>
          </p:cNvPr>
          <p:cNvPicPr>
            <a:picLocks noChangeAspect="1"/>
          </p:cNvPicPr>
          <p:nvPr/>
        </p:nvPicPr>
        <p:blipFill>
          <a:blip r:embed="rId4"/>
          <a:stretch>
            <a:fillRect/>
          </a:stretch>
        </p:blipFill>
        <p:spPr>
          <a:xfrm>
            <a:off x="5266030" y="1052778"/>
            <a:ext cx="1315925" cy="363353"/>
          </a:xfrm>
          <a:prstGeom prst="rect">
            <a:avLst/>
          </a:prstGeom>
        </p:spPr>
      </p:pic>
      <p:sp>
        <p:nvSpPr>
          <p:cNvPr id="12" name="TextBox 11">
            <a:extLst>
              <a:ext uri="{FF2B5EF4-FFF2-40B4-BE49-F238E27FC236}">
                <a16:creationId xmlns:a16="http://schemas.microsoft.com/office/drawing/2014/main" id="{62F6C4A9-26C9-AC42-0D5A-F62BF5D0F7B6}"/>
              </a:ext>
            </a:extLst>
          </p:cNvPr>
          <p:cNvSpPr txBox="1"/>
          <p:nvPr/>
        </p:nvSpPr>
        <p:spPr>
          <a:xfrm>
            <a:off x="311700" y="982236"/>
            <a:ext cx="4954330" cy="646331"/>
          </a:xfrm>
          <a:prstGeom prst="rect">
            <a:avLst/>
          </a:prstGeom>
          <a:noFill/>
        </p:spPr>
        <p:txBody>
          <a:bodyPr wrap="square" rtlCol="0">
            <a:spAutoFit/>
          </a:bodyPr>
          <a:lstStyle/>
          <a:p>
            <a:pPr marL="342900" indent="-342900">
              <a:buFont typeface="Arial" panose="020B0604020202020204" pitchFamily="34" charset="0"/>
              <a:buChar char="•"/>
            </a:pPr>
            <a:r>
              <a:rPr lang="en-US" sz="1800" dirty="0"/>
              <a:t>Fit a function given a dataset, input x and output y (prediction)</a:t>
            </a:r>
          </a:p>
        </p:txBody>
      </p:sp>
    </p:spTree>
    <p:extLst>
      <p:ext uri="{BB962C8B-B14F-4D97-AF65-F5344CB8AC3E}">
        <p14:creationId xmlns:p14="http://schemas.microsoft.com/office/powerpoint/2010/main" val="4231354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Regression</a:t>
            </a:r>
            <a:endParaRPr dirty="0">
              <a:solidFill>
                <a:srgbClr val="FFFFFF"/>
              </a:solidFill>
              <a:latin typeface="Montserrat"/>
              <a:ea typeface="Montserrat"/>
              <a:cs typeface="Montserrat"/>
              <a:sym typeface="Montserrat"/>
            </a:endParaRPr>
          </a:p>
        </p:txBody>
      </p:sp>
      <p:pic>
        <p:nvPicPr>
          <p:cNvPr id="3" name="Picture 2" descr="A math problem with a mathematical equation&#10;&#10;Description automatically generated with medium confidence">
            <a:extLst>
              <a:ext uri="{FF2B5EF4-FFF2-40B4-BE49-F238E27FC236}">
                <a16:creationId xmlns:a16="http://schemas.microsoft.com/office/drawing/2014/main" id="{1546F862-5077-CE20-27D1-26F7D9EA87AE}"/>
              </a:ext>
            </a:extLst>
          </p:cNvPr>
          <p:cNvPicPr>
            <a:picLocks noChangeAspect="1"/>
          </p:cNvPicPr>
          <p:nvPr/>
        </p:nvPicPr>
        <p:blipFill>
          <a:blip r:embed="rId3"/>
          <a:stretch>
            <a:fillRect/>
          </a:stretch>
        </p:blipFill>
        <p:spPr>
          <a:xfrm>
            <a:off x="638355" y="951719"/>
            <a:ext cx="7543800" cy="3657269"/>
          </a:xfrm>
          <a:prstGeom prst="rect">
            <a:avLst/>
          </a:prstGeom>
        </p:spPr>
      </p:pic>
    </p:spTree>
    <p:extLst>
      <p:ext uri="{BB962C8B-B14F-4D97-AF65-F5344CB8AC3E}">
        <p14:creationId xmlns:p14="http://schemas.microsoft.com/office/powerpoint/2010/main" val="470730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Regression</a:t>
            </a:r>
            <a:endParaRPr dirty="0">
              <a:solidFill>
                <a:srgbClr val="FFFFFF"/>
              </a:solidFill>
              <a:latin typeface="Montserrat"/>
              <a:ea typeface="Montserrat"/>
              <a:cs typeface="Montserrat"/>
              <a:sym typeface="Montserrat"/>
            </a:endParaRPr>
          </a:p>
        </p:txBody>
      </p:sp>
      <p:pic>
        <p:nvPicPr>
          <p:cNvPr id="6" name="Picture 5">
            <a:extLst>
              <a:ext uri="{FF2B5EF4-FFF2-40B4-BE49-F238E27FC236}">
                <a16:creationId xmlns:a16="http://schemas.microsoft.com/office/drawing/2014/main" id="{E27DC9FC-C3D1-E514-3176-C93AD7A8664E}"/>
              </a:ext>
            </a:extLst>
          </p:cNvPr>
          <p:cNvPicPr>
            <a:picLocks noChangeAspect="1"/>
          </p:cNvPicPr>
          <p:nvPr/>
        </p:nvPicPr>
        <p:blipFill>
          <a:blip r:embed="rId3"/>
          <a:stretch>
            <a:fillRect/>
          </a:stretch>
        </p:blipFill>
        <p:spPr>
          <a:xfrm>
            <a:off x="2938731" y="2140104"/>
            <a:ext cx="2997200" cy="375920"/>
          </a:xfrm>
          <a:prstGeom prst="rect">
            <a:avLst/>
          </a:prstGeom>
        </p:spPr>
      </p:pic>
      <p:pic>
        <p:nvPicPr>
          <p:cNvPr id="7" name="Picture 6">
            <a:extLst>
              <a:ext uri="{FF2B5EF4-FFF2-40B4-BE49-F238E27FC236}">
                <a16:creationId xmlns:a16="http://schemas.microsoft.com/office/drawing/2014/main" id="{13850BC5-7BAB-2E64-3A33-EA5813753DB6}"/>
              </a:ext>
            </a:extLst>
          </p:cNvPr>
          <p:cNvPicPr>
            <a:picLocks noChangeAspect="1"/>
          </p:cNvPicPr>
          <p:nvPr/>
        </p:nvPicPr>
        <p:blipFill>
          <a:blip r:embed="rId4"/>
          <a:stretch>
            <a:fillRect/>
          </a:stretch>
        </p:blipFill>
        <p:spPr>
          <a:xfrm>
            <a:off x="3202315" y="4316959"/>
            <a:ext cx="2470031" cy="387251"/>
          </a:xfrm>
          <a:prstGeom prst="rect">
            <a:avLst/>
          </a:prstGeom>
        </p:spPr>
      </p:pic>
      <p:sp>
        <p:nvSpPr>
          <p:cNvPr id="8" name="TextBox 7">
            <a:extLst>
              <a:ext uri="{FF2B5EF4-FFF2-40B4-BE49-F238E27FC236}">
                <a16:creationId xmlns:a16="http://schemas.microsoft.com/office/drawing/2014/main" id="{370A5DF0-E869-00B3-0089-BEB0099C3F70}"/>
              </a:ext>
            </a:extLst>
          </p:cNvPr>
          <p:cNvSpPr txBox="1"/>
          <p:nvPr/>
        </p:nvSpPr>
        <p:spPr>
          <a:xfrm>
            <a:off x="668546" y="1033603"/>
            <a:ext cx="4868176"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t>Minimize the error</a:t>
            </a:r>
          </a:p>
          <a:p>
            <a:pPr marL="285750" indent="-285750">
              <a:buFont typeface="Arial" panose="020B0604020202020204" pitchFamily="34" charset="0"/>
              <a:buChar char="•"/>
            </a:pPr>
            <a:r>
              <a:rPr lang="en-US" sz="1800" dirty="0"/>
              <a:t>It is often called </a:t>
            </a:r>
            <a:r>
              <a:rPr lang="en-US" sz="1800" b="1" i="1" dirty="0">
                <a:solidFill>
                  <a:schemeClr val="accent1">
                    <a:lumMod val="50000"/>
                  </a:schemeClr>
                </a:solidFill>
              </a:rPr>
              <a:t>Loss Function</a:t>
            </a:r>
            <a:r>
              <a:rPr lang="en-US" sz="1800" dirty="0"/>
              <a:t>, or </a:t>
            </a:r>
            <a:r>
              <a:rPr lang="en-US" sz="1800" b="1" i="1" dirty="0">
                <a:solidFill>
                  <a:schemeClr val="accent1">
                    <a:lumMod val="50000"/>
                  </a:schemeClr>
                </a:solidFill>
              </a:rPr>
              <a:t>Cost Function</a:t>
            </a:r>
          </a:p>
        </p:txBody>
      </p:sp>
      <p:sp>
        <p:nvSpPr>
          <p:cNvPr id="9" name="TextBox 8">
            <a:extLst>
              <a:ext uri="{FF2B5EF4-FFF2-40B4-BE49-F238E27FC236}">
                <a16:creationId xmlns:a16="http://schemas.microsoft.com/office/drawing/2014/main" id="{A585844A-1DB7-FB4C-4AE1-EFD5CEFD4F44}"/>
              </a:ext>
            </a:extLst>
          </p:cNvPr>
          <p:cNvSpPr txBox="1"/>
          <p:nvPr/>
        </p:nvSpPr>
        <p:spPr>
          <a:xfrm>
            <a:off x="668546" y="3186568"/>
            <a:ext cx="5267385"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t>Linear regression lost function can be written as a linear system</a:t>
            </a:r>
          </a:p>
          <a:p>
            <a:pPr marL="285750" indent="-285750">
              <a:buFont typeface="Arial" panose="020B0604020202020204" pitchFamily="34" charset="0"/>
              <a:buChar char="•"/>
            </a:pPr>
            <a:r>
              <a:rPr lang="en-US" sz="1800" dirty="0"/>
              <a:t>f(x) is approximated by a linear system</a:t>
            </a:r>
          </a:p>
        </p:txBody>
      </p:sp>
    </p:spTree>
    <p:extLst>
      <p:ext uri="{BB962C8B-B14F-4D97-AF65-F5344CB8AC3E}">
        <p14:creationId xmlns:p14="http://schemas.microsoft.com/office/powerpoint/2010/main" val="1005332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Minimizing a function</a:t>
            </a:r>
            <a:endParaRPr dirty="0">
              <a:solidFill>
                <a:srgbClr val="FFFFFF"/>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74C5DF4A-73DF-497D-3DA9-67B2150B5D23}"/>
              </a:ext>
            </a:extLst>
          </p:cNvPr>
          <p:cNvPicPr>
            <a:picLocks noChangeAspect="1"/>
          </p:cNvPicPr>
          <p:nvPr/>
        </p:nvPicPr>
        <p:blipFill>
          <a:blip r:embed="rId3"/>
          <a:stretch>
            <a:fillRect/>
          </a:stretch>
        </p:blipFill>
        <p:spPr>
          <a:xfrm>
            <a:off x="375488" y="1055097"/>
            <a:ext cx="8520601" cy="621564"/>
          </a:xfrm>
          <a:prstGeom prst="rect">
            <a:avLst/>
          </a:prstGeom>
        </p:spPr>
      </p:pic>
      <p:pic>
        <p:nvPicPr>
          <p:cNvPr id="5" name="Picture 4" descr="A white background with black text&#10;&#10;Description automatically generated">
            <a:extLst>
              <a:ext uri="{FF2B5EF4-FFF2-40B4-BE49-F238E27FC236}">
                <a16:creationId xmlns:a16="http://schemas.microsoft.com/office/drawing/2014/main" id="{9664241F-47DC-8FD1-1B33-42ADA0DE26EF}"/>
              </a:ext>
            </a:extLst>
          </p:cNvPr>
          <p:cNvPicPr>
            <a:picLocks noChangeAspect="1"/>
          </p:cNvPicPr>
          <p:nvPr/>
        </p:nvPicPr>
        <p:blipFill>
          <a:blip r:embed="rId4"/>
          <a:stretch>
            <a:fillRect/>
          </a:stretch>
        </p:blipFill>
        <p:spPr>
          <a:xfrm>
            <a:off x="375488" y="1712828"/>
            <a:ext cx="5764692" cy="1995470"/>
          </a:xfrm>
          <a:prstGeom prst="rect">
            <a:avLst/>
          </a:prstGeom>
        </p:spPr>
      </p:pic>
      <p:pic>
        <p:nvPicPr>
          <p:cNvPr id="11" name="Picture 10">
            <a:extLst>
              <a:ext uri="{FF2B5EF4-FFF2-40B4-BE49-F238E27FC236}">
                <a16:creationId xmlns:a16="http://schemas.microsoft.com/office/drawing/2014/main" id="{D64B265F-DEC3-0529-F837-555C3B9E87C4}"/>
              </a:ext>
            </a:extLst>
          </p:cNvPr>
          <p:cNvPicPr>
            <a:picLocks noChangeAspect="1"/>
          </p:cNvPicPr>
          <p:nvPr/>
        </p:nvPicPr>
        <p:blipFill>
          <a:blip r:embed="rId5"/>
          <a:stretch>
            <a:fillRect/>
          </a:stretch>
        </p:blipFill>
        <p:spPr>
          <a:xfrm>
            <a:off x="1424336" y="3815185"/>
            <a:ext cx="5685070" cy="235442"/>
          </a:xfrm>
          <a:prstGeom prst="rect">
            <a:avLst/>
          </a:prstGeom>
        </p:spPr>
      </p:pic>
      <p:sp>
        <p:nvSpPr>
          <p:cNvPr id="12" name="TextBox 11">
            <a:extLst>
              <a:ext uri="{FF2B5EF4-FFF2-40B4-BE49-F238E27FC236}">
                <a16:creationId xmlns:a16="http://schemas.microsoft.com/office/drawing/2014/main" id="{4F54D833-1FDD-E4B8-A837-00EBF272963C}"/>
              </a:ext>
            </a:extLst>
          </p:cNvPr>
          <p:cNvSpPr txBox="1"/>
          <p:nvPr/>
        </p:nvSpPr>
        <p:spPr>
          <a:xfrm>
            <a:off x="311700" y="3742850"/>
            <a:ext cx="1080745" cy="307777"/>
          </a:xfrm>
          <a:prstGeom prst="rect">
            <a:avLst/>
          </a:prstGeom>
          <a:noFill/>
        </p:spPr>
        <p:txBody>
          <a:bodyPr wrap="none" rtlCol="0">
            <a:spAutoFit/>
          </a:bodyPr>
          <a:lstStyle/>
          <a:p>
            <a:r>
              <a:rPr lang="en-US" dirty="0"/>
              <a:t>Example 2.</a:t>
            </a:r>
          </a:p>
        </p:txBody>
      </p:sp>
      <p:sp>
        <p:nvSpPr>
          <p:cNvPr id="13" name="TextBox 12">
            <a:extLst>
              <a:ext uri="{FF2B5EF4-FFF2-40B4-BE49-F238E27FC236}">
                <a16:creationId xmlns:a16="http://schemas.microsoft.com/office/drawing/2014/main" id="{FAAA0C78-1252-1BFF-93C7-95EF2C2145FC}"/>
              </a:ext>
            </a:extLst>
          </p:cNvPr>
          <p:cNvSpPr txBox="1"/>
          <p:nvPr/>
        </p:nvSpPr>
        <p:spPr>
          <a:xfrm>
            <a:off x="1314698" y="4157514"/>
            <a:ext cx="2829621" cy="307777"/>
          </a:xfrm>
          <a:prstGeom prst="rect">
            <a:avLst/>
          </a:prstGeom>
          <a:noFill/>
        </p:spPr>
        <p:txBody>
          <a:bodyPr wrap="none" rtlCol="0">
            <a:spAutoFit/>
          </a:bodyPr>
          <a:lstStyle/>
          <a:p>
            <a:r>
              <a:rPr lang="en-US" dirty="0"/>
              <a:t>Find the minimizer of function f(x)</a:t>
            </a:r>
          </a:p>
        </p:txBody>
      </p:sp>
    </p:spTree>
    <p:extLst>
      <p:ext uri="{BB962C8B-B14F-4D97-AF65-F5344CB8AC3E}">
        <p14:creationId xmlns:p14="http://schemas.microsoft.com/office/powerpoint/2010/main" val="4067072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Minimizing a function</a:t>
            </a:r>
            <a:endParaRPr dirty="0">
              <a:solidFill>
                <a:srgbClr val="FFFFFF"/>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74C5DF4A-73DF-497D-3DA9-67B2150B5D23}"/>
              </a:ext>
            </a:extLst>
          </p:cNvPr>
          <p:cNvPicPr>
            <a:picLocks noChangeAspect="1"/>
          </p:cNvPicPr>
          <p:nvPr/>
        </p:nvPicPr>
        <p:blipFill>
          <a:blip r:embed="rId3"/>
          <a:stretch>
            <a:fillRect/>
          </a:stretch>
        </p:blipFill>
        <p:spPr>
          <a:xfrm>
            <a:off x="375488" y="1055097"/>
            <a:ext cx="8520601" cy="621564"/>
          </a:xfrm>
          <a:prstGeom prst="rect">
            <a:avLst/>
          </a:prstGeom>
        </p:spPr>
      </p:pic>
      <p:pic>
        <p:nvPicPr>
          <p:cNvPr id="5" name="Picture 4" descr="A white background with black text&#10;&#10;Description automatically generated">
            <a:extLst>
              <a:ext uri="{FF2B5EF4-FFF2-40B4-BE49-F238E27FC236}">
                <a16:creationId xmlns:a16="http://schemas.microsoft.com/office/drawing/2014/main" id="{9664241F-47DC-8FD1-1B33-42ADA0DE26EF}"/>
              </a:ext>
            </a:extLst>
          </p:cNvPr>
          <p:cNvPicPr>
            <a:picLocks noChangeAspect="1"/>
          </p:cNvPicPr>
          <p:nvPr/>
        </p:nvPicPr>
        <p:blipFill>
          <a:blip r:embed="rId4"/>
          <a:stretch>
            <a:fillRect/>
          </a:stretch>
        </p:blipFill>
        <p:spPr>
          <a:xfrm>
            <a:off x="375488" y="1712828"/>
            <a:ext cx="5764692" cy="1995470"/>
          </a:xfrm>
          <a:prstGeom prst="rect">
            <a:avLst/>
          </a:prstGeom>
        </p:spPr>
      </p:pic>
      <p:pic>
        <p:nvPicPr>
          <p:cNvPr id="11" name="Picture 10">
            <a:extLst>
              <a:ext uri="{FF2B5EF4-FFF2-40B4-BE49-F238E27FC236}">
                <a16:creationId xmlns:a16="http://schemas.microsoft.com/office/drawing/2014/main" id="{D64B265F-DEC3-0529-F837-555C3B9E87C4}"/>
              </a:ext>
            </a:extLst>
          </p:cNvPr>
          <p:cNvPicPr>
            <a:picLocks noChangeAspect="1"/>
          </p:cNvPicPr>
          <p:nvPr/>
        </p:nvPicPr>
        <p:blipFill>
          <a:blip r:embed="rId5"/>
          <a:stretch>
            <a:fillRect/>
          </a:stretch>
        </p:blipFill>
        <p:spPr>
          <a:xfrm>
            <a:off x="1424336" y="3815185"/>
            <a:ext cx="5685070" cy="235442"/>
          </a:xfrm>
          <a:prstGeom prst="rect">
            <a:avLst/>
          </a:prstGeom>
        </p:spPr>
      </p:pic>
      <p:sp>
        <p:nvSpPr>
          <p:cNvPr id="12" name="TextBox 11">
            <a:extLst>
              <a:ext uri="{FF2B5EF4-FFF2-40B4-BE49-F238E27FC236}">
                <a16:creationId xmlns:a16="http://schemas.microsoft.com/office/drawing/2014/main" id="{4F54D833-1FDD-E4B8-A837-00EBF272963C}"/>
              </a:ext>
            </a:extLst>
          </p:cNvPr>
          <p:cNvSpPr txBox="1"/>
          <p:nvPr/>
        </p:nvSpPr>
        <p:spPr>
          <a:xfrm>
            <a:off x="311700" y="3742850"/>
            <a:ext cx="1080745" cy="307777"/>
          </a:xfrm>
          <a:prstGeom prst="rect">
            <a:avLst/>
          </a:prstGeom>
          <a:noFill/>
        </p:spPr>
        <p:txBody>
          <a:bodyPr wrap="none" rtlCol="0">
            <a:spAutoFit/>
          </a:bodyPr>
          <a:lstStyle/>
          <a:p>
            <a:r>
              <a:rPr lang="en-US" dirty="0"/>
              <a:t>Example 2.</a:t>
            </a:r>
          </a:p>
        </p:txBody>
      </p:sp>
      <p:sp>
        <p:nvSpPr>
          <p:cNvPr id="13" name="TextBox 12">
            <a:extLst>
              <a:ext uri="{FF2B5EF4-FFF2-40B4-BE49-F238E27FC236}">
                <a16:creationId xmlns:a16="http://schemas.microsoft.com/office/drawing/2014/main" id="{FAAA0C78-1252-1BFF-93C7-95EF2C2145FC}"/>
              </a:ext>
            </a:extLst>
          </p:cNvPr>
          <p:cNvSpPr txBox="1"/>
          <p:nvPr/>
        </p:nvSpPr>
        <p:spPr>
          <a:xfrm>
            <a:off x="1314698" y="4157514"/>
            <a:ext cx="2829621" cy="307777"/>
          </a:xfrm>
          <a:prstGeom prst="rect">
            <a:avLst/>
          </a:prstGeom>
          <a:noFill/>
        </p:spPr>
        <p:txBody>
          <a:bodyPr wrap="none" rtlCol="0">
            <a:spAutoFit/>
          </a:bodyPr>
          <a:lstStyle/>
          <a:p>
            <a:r>
              <a:rPr lang="en-US" dirty="0"/>
              <a:t>Find the minimizer of function f(x)</a:t>
            </a:r>
          </a:p>
        </p:txBody>
      </p:sp>
      <p:pic>
        <p:nvPicPr>
          <p:cNvPr id="15" name="Picture 14">
            <a:extLst>
              <a:ext uri="{FF2B5EF4-FFF2-40B4-BE49-F238E27FC236}">
                <a16:creationId xmlns:a16="http://schemas.microsoft.com/office/drawing/2014/main" id="{7EFC1D4E-35A7-C1C9-E235-7C56B26057A7}"/>
              </a:ext>
            </a:extLst>
          </p:cNvPr>
          <p:cNvPicPr>
            <a:picLocks noChangeAspect="1"/>
          </p:cNvPicPr>
          <p:nvPr/>
        </p:nvPicPr>
        <p:blipFill>
          <a:blip r:embed="rId6"/>
          <a:stretch>
            <a:fillRect/>
          </a:stretch>
        </p:blipFill>
        <p:spPr>
          <a:xfrm>
            <a:off x="4572000" y="4311402"/>
            <a:ext cx="2650037" cy="515779"/>
          </a:xfrm>
          <a:prstGeom prst="rect">
            <a:avLst/>
          </a:prstGeom>
        </p:spPr>
      </p:pic>
    </p:spTree>
    <p:extLst>
      <p:ext uri="{BB962C8B-B14F-4D97-AF65-F5344CB8AC3E}">
        <p14:creationId xmlns:p14="http://schemas.microsoft.com/office/powerpoint/2010/main" val="2026766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Nonlinear function example</a:t>
            </a:r>
            <a:endParaRPr dirty="0">
              <a:solidFill>
                <a:srgbClr val="FFFFFF"/>
              </a:solidFill>
              <a:latin typeface="Montserrat"/>
              <a:ea typeface="Montserrat"/>
              <a:cs typeface="Montserrat"/>
              <a:sym typeface="Montserrat"/>
            </a:endParaRPr>
          </a:p>
        </p:txBody>
      </p:sp>
      <p:pic>
        <p:nvPicPr>
          <p:cNvPr id="4" name="Picture 3">
            <a:extLst>
              <a:ext uri="{FF2B5EF4-FFF2-40B4-BE49-F238E27FC236}">
                <a16:creationId xmlns:a16="http://schemas.microsoft.com/office/drawing/2014/main" id="{BBBE0FEA-A41D-41DC-1543-2C32BB6BA62C}"/>
              </a:ext>
            </a:extLst>
          </p:cNvPr>
          <p:cNvPicPr>
            <a:picLocks noChangeAspect="1"/>
          </p:cNvPicPr>
          <p:nvPr/>
        </p:nvPicPr>
        <p:blipFill>
          <a:blip r:embed="rId3"/>
          <a:stretch>
            <a:fillRect/>
          </a:stretch>
        </p:blipFill>
        <p:spPr>
          <a:xfrm>
            <a:off x="4965403" y="925305"/>
            <a:ext cx="2665802" cy="372550"/>
          </a:xfrm>
          <a:prstGeom prst="rect">
            <a:avLst/>
          </a:prstGeom>
        </p:spPr>
      </p:pic>
      <p:pic>
        <p:nvPicPr>
          <p:cNvPr id="7" name="Picture 6">
            <a:extLst>
              <a:ext uri="{FF2B5EF4-FFF2-40B4-BE49-F238E27FC236}">
                <a16:creationId xmlns:a16="http://schemas.microsoft.com/office/drawing/2014/main" id="{460347D0-0193-9753-E4AD-3E4E14F68268}"/>
              </a:ext>
            </a:extLst>
          </p:cNvPr>
          <p:cNvPicPr>
            <a:picLocks noChangeAspect="1"/>
          </p:cNvPicPr>
          <p:nvPr/>
        </p:nvPicPr>
        <p:blipFill>
          <a:blip r:embed="rId4"/>
          <a:stretch>
            <a:fillRect/>
          </a:stretch>
        </p:blipFill>
        <p:spPr>
          <a:xfrm>
            <a:off x="2012767" y="2041051"/>
            <a:ext cx="876726" cy="572700"/>
          </a:xfrm>
          <a:prstGeom prst="rect">
            <a:avLst/>
          </a:prstGeom>
        </p:spPr>
      </p:pic>
      <p:pic>
        <p:nvPicPr>
          <p:cNvPr id="8" name="Picture 7">
            <a:extLst>
              <a:ext uri="{FF2B5EF4-FFF2-40B4-BE49-F238E27FC236}">
                <a16:creationId xmlns:a16="http://schemas.microsoft.com/office/drawing/2014/main" id="{9638362C-9D81-09AE-D612-50D622659CBC}"/>
              </a:ext>
            </a:extLst>
          </p:cNvPr>
          <p:cNvPicPr>
            <a:picLocks noChangeAspect="1"/>
          </p:cNvPicPr>
          <p:nvPr/>
        </p:nvPicPr>
        <p:blipFill>
          <a:blip r:embed="rId5"/>
          <a:stretch>
            <a:fillRect/>
          </a:stretch>
        </p:blipFill>
        <p:spPr>
          <a:xfrm>
            <a:off x="2012767" y="2741467"/>
            <a:ext cx="876726" cy="572700"/>
          </a:xfrm>
          <a:prstGeom prst="rect">
            <a:avLst/>
          </a:prstGeom>
        </p:spPr>
      </p:pic>
      <p:pic>
        <p:nvPicPr>
          <p:cNvPr id="14" name="Picture 13">
            <a:extLst>
              <a:ext uri="{FF2B5EF4-FFF2-40B4-BE49-F238E27FC236}">
                <a16:creationId xmlns:a16="http://schemas.microsoft.com/office/drawing/2014/main" id="{F062E65A-EC66-8BB3-023C-9C779490A005}"/>
              </a:ext>
            </a:extLst>
          </p:cNvPr>
          <p:cNvPicPr>
            <a:picLocks noChangeAspect="1"/>
          </p:cNvPicPr>
          <p:nvPr/>
        </p:nvPicPr>
        <p:blipFill>
          <a:blip r:embed="rId6"/>
          <a:stretch>
            <a:fillRect/>
          </a:stretch>
        </p:blipFill>
        <p:spPr>
          <a:xfrm>
            <a:off x="4420992" y="1543524"/>
            <a:ext cx="3754624" cy="335380"/>
          </a:xfrm>
          <a:prstGeom prst="rect">
            <a:avLst/>
          </a:prstGeom>
        </p:spPr>
      </p:pic>
      <p:sp>
        <p:nvSpPr>
          <p:cNvPr id="23" name="TextBox 22">
            <a:extLst>
              <a:ext uri="{FF2B5EF4-FFF2-40B4-BE49-F238E27FC236}">
                <a16:creationId xmlns:a16="http://schemas.microsoft.com/office/drawing/2014/main" id="{84C14CB6-1236-3C71-366A-3C5B91B2FC3F}"/>
              </a:ext>
            </a:extLst>
          </p:cNvPr>
          <p:cNvSpPr txBox="1"/>
          <p:nvPr/>
        </p:nvSpPr>
        <p:spPr>
          <a:xfrm>
            <a:off x="311700" y="963834"/>
            <a:ext cx="4551246" cy="338554"/>
          </a:xfrm>
          <a:prstGeom prst="rect">
            <a:avLst/>
          </a:prstGeom>
          <a:noFill/>
        </p:spPr>
        <p:txBody>
          <a:bodyPr wrap="none" rtlCol="0">
            <a:spAutoFit/>
          </a:bodyPr>
          <a:lstStyle/>
          <a:p>
            <a:r>
              <a:rPr lang="en-US" sz="1600" dirty="0"/>
              <a:t>Fit the data with exponential (nonlinear) function</a:t>
            </a:r>
          </a:p>
        </p:txBody>
      </p:sp>
      <p:sp>
        <p:nvSpPr>
          <p:cNvPr id="24" name="TextBox 23">
            <a:extLst>
              <a:ext uri="{FF2B5EF4-FFF2-40B4-BE49-F238E27FC236}">
                <a16:creationId xmlns:a16="http://schemas.microsoft.com/office/drawing/2014/main" id="{45025661-C8B9-2BA5-2317-29E4586F171C}"/>
              </a:ext>
            </a:extLst>
          </p:cNvPr>
          <p:cNvSpPr txBox="1"/>
          <p:nvPr/>
        </p:nvSpPr>
        <p:spPr>
          <a:xfrm>
            <a:off x="311700" y="1543755"/>
            <a:ext cx="3884397" cy="338554"/>
          </a:xfrm>
          <a:prstGeom prst="rect">
            <a:avLst/>
          </a:prstGeom>
          <a:noFill/>
        </p:spPr>
        <p:txBody>
          <a:bodyPr wrap="none" rtlCol="0">
            <a:spAutoFit/>
          </a:bodyPr>
          <a:lstStyle/>
          <a:p>
            <a:r>
              <a:rPr lang="en-US" sz="1600" dirty="0"/>
              <a:t>Assume 1 data point (x, y), loss function:</a:t>
            </a:r>
          </a:p>
        </p:txBody>
      </p:sp>
      <p:sp>
        <p:nvSpPr>
          <p:cNvPr id="25" name="TextBox 24">
            <a:extLst>
              <a:ext uri="{FF2B5EF4-FFF2-40B4-BE49-F238E27FC236}">
                <a16:creationId xmlns:a16="http://schemas.microsoft.com/office/drawing/2014/main" id="{B8657625-13DA-737D-64CB-264DE618B14F}"/>
              </a:ext>
            </a:extLst>
          </p:cNvPr>
          <p:cNvSpPr txBox="1"/>
          <p:nvPr/>
        </p:nvSpPr>
        <p:spPr>
          <a:xfrm>
            <a:off x="311700" y="2217972"/>
            <a:ext cx="1029449" cy="338554"/>
          </a:xfrm>
          <a:prstGeom prst="rect">
            <a:avLst/>
          </a:prstGeom>
          <a:noFill/>
        </p:spPr>
        <p:txBody>
          <a:bodyPr wrap="none" rtlCol="0">
            <a:spAutoFit/>
          </a:bodyPr>
          <a:lstStyle/>
          <a:p>
            <a:r>
              <a:rPr lang="en-US" sz="1600" dirty="0"/>
              <a:t>Gradient:</a:t>
            </a:r>
          </a:p>
        </p:txBody>
      </p:sp>
    </p:spTree>
    <p:extLst>
      <p:ext uri="{BB962C8B-B14F-4D97-AF65-F5344CB8AC3E}">
        <p14:creationId xmlns:p14="http://schemas.microsoft.com/office/powerpoint/2010/main" val="2409983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Nonlinear function example</a:t>
            </a:r>
            <a:endParaRPr dirty="0">
              <a:solidFill>
                <a:srgbClr val="FFFFFF"/>
              </a:solidFill>
              <a:latin typeface="Montserrat"/>
              <a:ea typeface="Montserrat"/>
              <a:cs typeface="Montserrat"/>
              <a:sym typeface="Montserrat"/>
            </a:endParaRPr>
          </a:p>
        </p:txBody>
      </p:sp>
      <p:pic>
        <p:nvPicPr>
          <p:cNvPr id="4" name="Picture 3">
            <a:extLst>
              <a:ext uri="{FF2B5EF4-FFF2-40B4-BE49-F238E27FC236}">
                <a16:creationId xmlns:a16="http://schemas.microsoft.com/office/drawing/2014/main" id="{BBBE0FEA-A41D-41DC-1543-2C32BB6BA62C}"/>
              </a:ext>
            </a:extLst>
          </p:cNvPr>
          <p:cNvPicPr>
            <a:picLocks noChangeAspect="1"/>
          </p:cNvPicPr>
          <p:nvPr/>
        </p:nvPicPr>
        <p:blipFill>
          <a:blip r:embed="rId3"/>
          <a:stretch>
            <a:fillRect/>
          </a:stretch>
        </p:blipFill>
        <p:spPr>
          <a:xfrm>
            <a:off x="4965403" y="925305"/>
            <a:ext cx="2665802" cy="372550"/>
          </a:xfrm>
          <a:prstGeom prst="rect">
            <a:avLst/>
          </a:prstGeom>
        </p:spPr>
      </p:pic>
      <p:pic>
        <p:nvPicPr>
          <p:cNvPr id="7" name="Picture 6">
            <a:extLst>
              <a:ext uri="{FF2B5EF4-FFF2-40B4-BE49-F238E27FC236}">
                <a16:creationId xmlns:a16="http://schemas.microsoft.com/office/drawing/2014/main" id="{460347D0-0193-9753-E4AD-3E4E14F68268}"/>
              </a:ext>
            </a:extLst>
          </p:cNvPr>
          <p:cNvPicPr>
            <a:picLocks noChangeAspect="1"/>
          </p:cNvPicPr>
          <p:nvPr/>
        </p:nvPicPr>
        <p:blipFill>
          <a:blip r:embed="rId4"/>
          <a:stretch>
            <a:fillRect/>
          </a:stretch>
        </p:blipFill>
        <p:spPr>
          <a:xfrm>
            <a:off x="2012767" y="2041051"/>
            <a:ext cx="876726" cy="572700"/>
          </a:xfrm>
          <a:prstGeom prst="rect">
            <a:avLst/>
          </a:prstGeom>
        </p:spPr>
      </p:pic>
      <p:pic>
        <p:nvPicPr>
          <p:cNvPr id="8" name="Picture 7">
            <a:extLst>
              <a:ext uri="{FF2B5EF4-FFF2-40B4-BE49-F238E27FC236}">
                <a16:creationId xmlns:a16="http://schemas.microsoft.com/office/drawing/2014/main" id="{9638362C-9D81-09AE-D612-50D622659CBC}"/>
              </a:ext>
            </a:extLst>
          </p:cNvPr>
          <p:cNvPicPr>
            <a:picLocks noChangeAspect="1"/>
          </p:cNvPicPr>
          <p:nvPr/>
        </p:nvPicPr>
        <p:blipFill>
          <a:blip r:embed="rId5"/>
          <a:stretch>
            <a:fillRect/>
          </a:stretch>
        </p:blipFill>
        <p:spPr>
          <a:xfrm>
            <a:off x="2012767" y="2741467"/>
            <a:ext cx="876726" cy="572700"/>
          </a:xfrm>
          <a:prstGeom prst="rect">
            <a:avLst/>
          </a:prstGeom>
        </p:spPr>
      </p:pic>
      <p:pic>
        <p:nvPicPr>
          <p:cNvPr id="14" name="Picture 13">
            <a:extLst>
              <a:ext uri="{FF2B5EF4-FFF2-40B4-BE49-F238E27FC236}">
                <a16:creationId xmlns:a16="http://schemas.microsoft.com/office/drawing/2014/main" id="{F062E65A-EC66-8BB3-023C-9C779490A005}"/>
              </a:ext>
            </a:extLst>
          </p:cNvPr>
          <p:cNvPicPr>
            <a:picLocks noChangeAspect="1"/>
          </p:cNvPicPr>
          <p:nvPr/>
        </p:nvPicPr>
        <p:blipFill>
          <a:blip r:embed="rId6"/>
          <a:stretch>
            <a:fillRect/>
          </a:stretch>
        </p:blipFill>
        <p:spPr>
          <a:xfrm>
            <a:off x="4420992" y="1543524"/>
            <a:ext cx="3754624" cy="335380"/>
          </a:xfrm>
          <a:prstGeom prst="rect">
            <a:avLst/>
          </a:prstGeom>
        </p:spPr>
      </p:pic>
      <p:pic>
        <p:nvPicPr>
          <p:cNvPr id="17" name="Picture 16">
            <a:extLst>
              <a:ext uri="{FF2B5EF4-FFF2-40B4-BE49-F238E27FC236}">
                <a16:creationId xmlns:a16="http://schemas.microsoft.com/office/drawing/2014/main" id="{D6786307-3C53-9823-4111-9CCF55D184FE}"/>
              </a:ext>
            </a:extLst>
          </p:cNvPr>
          <p:cNvPicPr>
            <a:picLocks noChangeAspect="1"/>
          </p:cNvPicPr>
          <p:nvPr/>
        </p:nvPicPr>
        <p:blipFill>
          <a:blip r:embed="rId7"/>
          <a:stretch>
            <a:fillRect/>
          </a:stretch>
        </p:blipFill>
        <p:spPr>
          <a:xfrm>
            <a:off x="3886069" y="2815357"/>
            <a:ext cx="4289547" cy="324567"/>
          </a:xfrm>
          <a:prstGeom prst="rect">
            <a:avLst/>
          </a:prstGeom>
        </p:spPr>
      </p:pic>
      <p:pic>
        <p:nvPicPr>
          <p:cNvPr id="18" name="Picture 17">
            <a:extLst>
              <a:ext uri="{FF2B5EF4-FFF2-40B4-BE49-F238E27FC236}">
                <a16:creationId xmlns:a16="http://schemas.microsoft.com/office/drawing/2014/main" id="{AFCB9676-01BE-FBF5-2E5D-F5441BE6B7C3}"/>
              </a:ext>
            </a:extLst>
          </p:cNvPr>
          <p:cNvPicPr>
            <a:picLocks noChangeAspect="1"/>
          </p:cNvPicPr>
          <p:nvPr/>
        </p:nvPicPr>
        <p:blipFill>
          <a:blip r:embed="rId8"/>
          <a:stretch>
            <a:fillRect/>
          </a:stretch>
        </p:blipFill>
        <p:spPr>
          <a:xfrm>
            <a:off x="3323426" y="2222890"/>
            <a:ext cx="4824170" cy="328718"/>
          </a:xfrm>
          <a:prstGeom prst="rect">
            <a:avLst/>
          </a:prstGeom>
        </p:spPr>
      </p:pic>
      <p:pic>
        <p:nvPicPr>
          <p:cNvPr id="21" name="Picture 20">
            <a:extLst>
              <a:ext uri="{FF2B5EF4-FFF2-40B4-BE49-F238E27FC236}">
                <a16:creationId xmlns:a16="http://schemas.microsoft.com/office/drawing/2014/main" id="{BBA108A6-9E37-C563-46B4-EB4AADEF5957}"/>
              </a:ext>
            </a:extLst>
          </p:cNvPr>
          <p:cNvPicPr>
            <a:picLocks noChangeAspect="1"/>
          </p:cNvPicPr>
          <p:nvPr/>
        </p:nvPicPr>
        <p:blipFill>
          <a:blip r:embed="rId9"/>
          <a:stretch>
            <a:fillRect/>
          </a:stretch>
        </p:blipFill>
        <p:spPr>
          <a:xfrm>
            <a:off x="2832567" y="3637182"/>
            <a:ext cx="5588886" cy="324567"/>
          </a:xfrm>
          <a:prstGeom prst="rect">
            <a:avLst/>
          </a:prstGeom>
        </p:spPr>
      </p:pic>
      <p:pic>
        <p:nvPicPr>
          <p:cNvPr id="22" name="Picture 21">
            <a:extLst>
              <a:ext uri="{FF2B5EF4-FFF2-40B4-BE49-F238E27FC236}">
                <a16:creationId xmlns:a16="http://schemas.microsoft.com/office/drawing/2014/main" id="{DA88C318-2E67-31E3-036D-3BB42C6E553F}"/>
              </a:ext>
            </a:extLst>
          </p:cNvPr>
          <p:cNvPicPr>
            <a:picLocks noChangeAspect="1"/>
          </p:cNvPicPr>
          <p:nvPr/>
        </p:nvPicPr>
        <p:blipFill>
          <a:blip r:embed="rId10"/>
          <a:stretch>
            <a:fillRect/>
          </a:stretch>
        </p:blipFill>
        <p:spPr>
          <a:xfrm>
            <a:off x="3058764" y="4225498"/>
            <a:ext cx="5353493" cy="303802"/>
          </a:xfrm>
          <a:prstGeom prst="rect">
            <a:avLst/>
          </a:prstGeom>
        </p:spPr>
      </p:pic>
      <p:sp>
        <p:nvSpPr>
          <p:cNvPr id="23" name="TextBox 22">
            <a:extLst>
              <a:ext uri="{FF2B5EF4-FFF2-40B4-BE49-F238E27FC236}">
                <a16:creationId xmlns:a16="http://schemas.microsoft.com/office/drawing/2014/main" id="{84C14CB6-1236-3C71-366A-3C5B91B2FC3F}"/>
              </a:ext>
            </a:extLst>
          </p:cNvPr>
          <p:cNvSpPr txBox="1"/>
          <p:nvPr/>
        </p:nvSpPr>
        <p:spPr>
          <a:xfrm>
            <a:off x="311700" y="963834"/>
            <a:ext cx="4551246" cy="338554"/>
          </a:xfrm>
          <a:prstGeom prst="rect">
            <a:avLst/>
          </a:prstGeom>
          <a:noFill/>
        </p:spPr>
        <p:txBody>
          <a:bodyPr wrap="none" rtlCol="0">
            <a:spAutoFit/>
          </a:bodyPr>
          <a:lstStyle/>
          <a:p>
            <a:r>
              <a:rPr lang="en-US" sz="1600" dirty="0"/>
              <a:t>Fit the data with exponential (nonlinear) function</a:t>
            </a:r>
          </a:p>
        </p:txBody>
      </p:sp>
      <p:sp>
        <p:nvSpPr>
          <p:cNvPr id="24" name="TextBox 23">
            <a:extLst>
              <a:ext uri="{FF2B5EF4-FFF2-40B4-BE49-F238E27FC236}">
                <a16:creationId xmlns:a16="http://schemas.microsoft.com/office/drawing/2014/main" id="{45025661-C8B9-2BA5-2317-29E4586F171C}"/>
              </a:ext>
            </a:extLst>
          </p:cNvPr>
          <p:cNvSpPr txBox="1"/>
          <p:nvPr/>
        </p:nvSpPr>
        <p:spPr>
          <a:xfrm>
            <a:off x="311700" y="1543755"/>
            <a:ext cx="3884397" cy="338554"/>
          </a:xfrm>
          <a:prstGeom prst="rect">
            <a:avLst/>
          </a:prstGeom>
          <a:noFill/>
        </p:spPr>
        <p:txBody>
          <a:bodyPr wrap="none" rtlCol="0">
            <a:spAutoFit/>
          </a:bodyPr>
          <a:lstStyle/>
          <a:p>
            <a:r>
              <a:rPr lang="en-US" sz="1600" dirty="0"/>
              <a:t>Assume 1 data point (x, y), loss function:</a:t>
            </a:r>
          </a:p>
        </p:txBody>
      </p:sp>
      <p:sp>
        <p:nvSpPr>
          <p:cNvPr id="25" name="TextBox 24">
            <a:extLst>
              <a:ext uri="{FF2B5EF4-FFF2-40B4-BE49-F238E27FC236}">
                <a16:creationId xmlns:a16="http://schemas.microsoft.com/office/drawing/2014/main" id="{B8657625-13DA-737D-64CB-264DE618B14F}"/>
              </a:ext>
            </a:extLst>
          </p:cNvPr>
          <p:cNvSpPr txBox="1"/>
          <p:nvPr/>
        </p:nvSpPr>
        <p:spPr>
          <a:xfrm>
            <a:off x="311700" y="2217972"/>
            <a:ext cx="1029449" cy="338554"/>
          </a:xfrm>
          <a:prstGeom prst="rect">
            <a:avLst/>
          </a:prstGeom>
          <a:noFill/>
        </p:spPr>
        <p:txBody>
          <a:bodyPr wrap="none" rtlCol="0">
            <a:spAutoFit/>
          </a:bodyPr>
          <a:lstStyle/>
          <a:p>
            <a:r>
              <a:rPr lang="en-US" sz="1600" dirty="0"/>
              <a:t>Gradient:</a:t>
            </a:r>
          </a:p>
        </p:txBody>
      </p:sp>
      <p:sp>
        <p:nvSpPr>
          <p:cNvPr id="26" name="TextBox 25">
            <a:extLst>
              <a:ext uri="{FF2B5EF4-FFF2-40B4-BE49-F238E27FC236}">
                <a16:creationId xmlns:a16="http://schemas.microsoft.com/office/drawing/2014/main" id="{945C7807-EF30-7F1A-01B3-26CD3C7A713D}"/>
              </a:ext>
            </a:extLst>
          </p:cNvPr>
          <p:cNvSpPr txBox="1"/>
          <p:nvPr/>
        </p:nvSpPr>
        <p:spPr>
          <a:xfrm>
            <a:off x="318815" y="3725884"/>
            <a:ext cx="2132315" cy="584775"/>
          </a:xfrm>
          <a:prstGeom prst="rect">
            <a:avLst/>
          </a:prstGeom>
          <a:noFill/>
        </p:spPr>
        <p:txBody>
          <a:bodyPr wrap="none" rtlCol="0">
            <a:spAutoFit/>
          </a:bodyPr>
          <a:lstStyle/>
          <a:p>
            <a:r>
              <a:rPr lang="en-US" sz="1600" dirty="0"/>
              <a:t>Nonlinear equation of</a:t>
            </a:r>
          </a:p>
          <a:p>
            <a:r>
              <a:rPr lang="en-US" sz="1600" dirty="0"/>
              <a:t>gradient:</a:t>
            </a:r>
          </a:p>
        </p:txBody>
      </p:sp>
    </p:spTree>
    <p:extLst>
      <p:ext uri="{BB962C8B-B14F-4D97-AF65-F5344CB8AC3E}">
        <p14:creationId xmlns:p14="http://schemas.microsoft.com/office/powerpoint/2010/main" val="3806360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Nonlinear function example</a:t>
            </a:r>
            <a:endParaRPr dirty="0">
              <a:solidFill>
                <a:srgbClr val="FFFFFF"/>
              </a:solidFill>
              <a:latin typeface="Montserrat"/>
              <a:ea typeface="Montserrat"/>
              <a:cs typeface="Montserrat"/>
              <a:sym typeface="Montserrat"/>
            </a:endParaRPr>
          </a:p>
        </p:txBody>
      </p:sp>
      <p:pic>
        <p:nvPicPr>
          <p:cNvPr id="6" name="Picture 5">
            <a:extLst>
              <a:ext uri="{FF2B5EF4-FFF2-40B4-BE49-F238E27FC236}">
                <a16:creationId xmlns:a16="http://schemas.microsoft.com/office/drawing/2014/main" id="{9964E8FF-1BAA-82C2-F059-2AB40152B600}"/>
              </a:ext>
            </a:extLst>
          </p:cNvPr>
          <p:cNvPicPr>
            <a:picLocks noChangeAspect="1"/>
          </p:cNvPicPr>
          <p:nvPr/>
        </p:nvPicPr>
        <p:blipFill>
          <a:blip r:embed="rId3"/>
          <a:stretch>
            <a:fillRect/>
          </a:stretch>
        </p:blipFill>
        <p:spPr>
          <a:xfrm>
            <a:off x="4237822" y="781658"/>
            <a:ext cx="3802691" cy="703676"/>
          </a:xfrm>
          <a:prstGeom prst="rect">
            <a:avLst/>
          </a:prstGeom>
        </p:spPr>
      </p:pic>
      <p:pic>
        <p:nvPicPr>
          <p:cNvPr id="7" name="Picture 6">
            <a:extLst>
              <a:ext uri="{FF2B5EF4-FFF2-40B4-BE49-F238E27FC236}">
                <a16:creationId xmlns:a16="http://schemas.microsoft.com/office/drawing/2014/main" id="{460347D0-0193-9753-E4AD-3E4E14F68268}"/>
              </a:ext>
            </a:extLst>
          </p:cNvPr>
          <p:cNvPicPr>
            <a:picLocks noChangeAspect="1"/>
          </p:cNvPicPr>
          <p:nvPr/>
        </p:nvPicPr>
        <p:blipFill>
          <a:blip r:embed="rId4"/>
          <a:stretch>
            <a:fillRect/>
          </a:stretch>
        </p:blipFill>
        <p:spPr>
          <a:xfrm>
            <a:off x="2503853" y="1506957"/>
            <a:ext cx="876726" cy="572700"/>
          </a:xfrm>
          <a:prstGeom prst="rect">
            <a:avLst/>
          </a:prstGeom>
        </p:spPr>
      </p:pic>
      <p:pic>
        <p:nvPicPr>
          <p:cNvPr id="8" name="Picture 7">
            <a:extLst>
              <a:ext uri="{FF2B5EF4-FFF2-40B4-BE49-F238E27FC236}">
                <a16:creationId xmlns:a16="http://schemas.microsoft.com/office/drawing/2014/main" id="{9638362C-9D81-09AE-D612-50D622659CBC}"/>
              </a:ext>
            </a:extLst>
          </p:cNvPr>
          <p:cNvPicPr>
            <a:picLocks noChangeAspect="1"/>
          </p:cNvPicPr>
          <p:nvPr/>
        </p:nvPicPr>
        <p:blipFill>
          <a:blip r:embed="rId5"/>
          <a:stretch>
            <a:fillRect/>
          </a:stretch>
        </p:blipFill>
        <p:spPr>
          <a:xfrm>
            <a:off x="2541236" y="2122114"/>
            <a:ext cx="876726" cy="572700"/>
          </a:xfrm>
          <a:prstGeom prst="rect">
            <a:avLst/>
          </a:prstGeom>
        </p:spPr>
      </p:pic>
      <p:pic>
        <p:nvPicPr>
          <p:cNvPr id="9" name="Picture 8">
            <a:extLst>
              <a:ext uri="{FF2B5EF4-FFF2-40B4-BE49-F238E27FC236}">
                <a16:creationId xmlns:a16="http://schemas.microsoft.com/office/drawing/2014/main" id="{CA782E05-70A0-4F2E-DE5B-37ED19169206}"/>
              </a:ext>
            </a:extLst>
          </p:cNvPr>
          <p:cNvPicPr>
            <a:picLocks noChangeAspect="1"/>
          </p:cNvPicPr>
          <p:nvPr/>
        </p:nvPicPr>
        <p:blipFill>
          <a:blip r:embed="rId6"/>
          <a:stretch>
            <a:fillRect/>
          </a:stretch>
        </p:blipFill>
        <p:spPr>
          <a:xfrm>
            <a:off x="3601696" y="1506957"/>
            <a:ext cx="3906437" cy="612895"/>
          </a:xfrm>
          <a:prstGeom prst="rect">
            <a:avLst/>
          </a:prstGeom>
        </p:spPr>
      </p:pic>
      <p:pic>
        <p:nvPicPr>
          <p:cNvPr id="10" name="Picture 9">
            <a:extLst>
              <a:ext uri="{FF2B5EF4-FFF2-40B4-BE49-F238E27FC236}">
                <a16:creationId xmlns:a16="http://schemas.microsoft.com/office/drawing/2014/main" id="{15AEFA39-C641-56D6-7B90-8D7C7ECD64F7}"/>
              </a:ext>
            </a:extLst>
          </p:cNvPr>
          <p:cNvPicPr>
            <a:picLocks noChangeAspect="1"/>
          </p:cNvPicPr>
          <p:nvPr/>
        </p:nvPicPr>
        <p:blipFill>
          <a:blip r:embed="rId7"/>
          <a:stretch>
            <a:fillRect/>
          </a:stretch>
        </p:blipFill>
        <p:spPr>
          <a:xfrm>
            <a:off x="3601697" y="2163098"/>
            <a:ext cx="3906437" cy="683281"/>
          </a:xfrm>
          <a:prstGeom prst="rect">
            <a:avLst/>
          </a:prstGeom>
        </p:spPr>
      </p:pic>
      <p:pic>
        <p:nvPicPr>
          <p:cNvPr id="3" name="Picture 2">
            <a:extLst>
              <a:ext uri="{FF2B5EF4-FFF2-40B4-BE49-F238E27FC236}">
                <a16:creationId xmlns:a16="http://schemas.microsoft.com/office/drawing/2014/main" id="{8252FC48-C60E-32CA-CF2D-613B0A73B135}"/>
              </a:ext>
            </a:extLst>
          </p:cNvPr>
          <p:cNvPicPr>
            <a:picLocks noChangeAspect="1"/>
          </p:cNvPicPr>
          <p:nvPr/>
        </p:nvPicPr>
        <p:blipFill>
          <a:blip r:embed="rId8"/>
          <a:stretch>
            <a:fillRect/>
          </a:stretch>
        </p:blipFill>
        <p:spPr>
          <a:xfrm>
            <a:off x="3814071" y="3475214"/>
            <a:ext cx="4226442" cy="683689"/>
          </a:xfrm>
          <a:prstGeom prst="rect">
            <a:avLst/>
          </a:prstGeom>
        </p:spPr>
      </p:pic>
      <p:pic>
        <p:nvPicPr>
          <p:cNvPr id="5" name="Picture 4">
            <a:extLst>
              <a:ext uri="{FF2B5EF4-FFF2-40B4-BE49-F238E27FC236}">
                <a16:creationId xmlns:a16="http://schemas.microsoft.com/office/drawing/2014/main" id="{D63A2240-66C5-E7FE-4B8F-FB69F3D9E5E1}"/>
              </a:ext>
            </a:extLst>
          </p:cNvPr>
          <p:cNvPicPr>
            <a:picLocks noChangeAspect="1"/>
          </p:cNvPicPr>
          <p:nvPr/>
        </p:nvPicPr>
        <p:blipFill>
          <a:blip r:embed="rId9"/>
          <a:stretch>
            <a:fillRect/>
          </a:stretch>
        </p:blipFill>
        <p:spPr>
          <a:xfrm>
            <a:off x="2721099" y="2825990"/>
            <a:ext cx="5269780" cy="722587"/>
          </a:xfrm>
          <a:prstGeom prst="rect">
            <a:avLst/>
          </a:prstGeom>
        </p:spPr>
      </p:pic>
      <p:pic>
        <p:nvPicPr>
          <p:cNvPr id="11" name="Picture 10">
            <a:extLst>
              <a:ext uri="{FF2B5EF4-FFF2-40B4-BE49-F238E27FC236}">
                <a16:creationId xmlns:a16="http://schemas.microsoft.com/office/drawing/2014/main" id="{8D6466D6-52E1-C1E2-97E6-8CA4EC8E9937}"/>
              </a:ext>
            </a:extLst>
          </p:cNvPr>
          <p:cNvPicPr>
            <a:picLocks noChangeAspect="1"/>
          </p:cNvPicPr>
          <p:nvPr/>
        </p:nvPicPr>
        <p:blipFill>
          <a:blip r:embed="rId10"/>
          <a:stretch>
            <a:fillRect/>
          </a:stretch>
        </p:blipFill>
        <p:spPr>
          <a:xfrm>
            <a:off x="2678569" y="4256975"/>
            <a:ext cx="2140162" cy="813074"/>
          </a:xfrm>
          <a:prstGeom prst="rect">
            <a:avLst/>
          </a:prstGeom>
        </p:spPr>
      </p:pic>
      <p:sp>
        <p:nvSpPr>
          <p:cNvPr id="12" name="TextBox 11">
            <a:extLst>
              <a:ext uri="{FF2B5EF4-FFF2-40B4-BE49-F238E27FC236}">
                <a16:creationId xmlns:a16="http://schemas.microsoft.com/office/drawing/2014/main" id="{C212ECBA-9BF7-025E-CB58-07CFFF450C64}"/>
              </a:ext>
            </a:extLst>
          </p:cNvPr>
          <p:cNvSpPr txBox="1"/>
          <p:nvPr/>
        </p:nvSpPr>
        <p:spPr>
          <a:xfrm>
            <a:off x="439084" y="928241"/>
            <a:ext cx="3461204" cy="369332"/>
          </a:xfrm>
          <a:prstGeom prst="rect">
            <a:avLst/>
          </a:prstGeom>
          <a:noFill/>
        </p:spPr>
        <p:txBody>
          <a:bodyPr wrap="none" rtlCol="0">
            <a:spAutoFit/>
          </a:bodyPr>
          <a:lstStyle/>
          <a:p>
            <a:r>
              <a:rPr lang="en-US" sz="1800" dirty="0"/>
              <a:t>Assume n data points, </a:t>
            </a:r>
            <a:r>
              <a:rPr lang="en-US" sz="1800" dirty="0" err="1"/>
              <a:t>i</a:t>
            </a:r>
            <a:r>
              <a:rPr lang="en-US" sz="1800" dirty="0"/>
              <a:t>=1,2,…n</a:t>
            </a:r>
          </a:p>
        </p:txBody>
      </p:sp>
      <p:sp>
        <p:nvSpPr>
          <p:cNvPr id="13" name="TextBox 12">
            <a:extLst>
              <a:ext uri="{FF2B5EF4-FFF2-40B4-BE49-F238E27FC236}">
                <a16:creationId xmlns:a16="http://schemas.microsoft.com/office/drawing/2014/main" id="{0D2EEA9B-7268-0D41-28AF-608179FBE13B}"/>
              </a:ext>
            </a:extLst>
          </p:cNvPr>
          <p:cNvSpPr txBox="1"/>
          <p:nvPr/>
        </p:nvSpPr>
        <p:spPr>
          <a:xfrm>
            <a:off x="405299" y="1641599"/>
            <a:ext cx="1877437" cy="646331"/>
          </a:xfrm>
          <a:prstGeom prst="rect">
            <a:avLst/>
          </a:prstGeom>
          <a:noFill/>
        </p:spPr>
        <p:txBody>
          <a:bodyPr wrap="none" rtlCol="0">
            <a:spAutoFit/>
          </a:bodyPr>
          <a:lstStyle/>
          <a:p>
            <a:r>
              <a:rPr lang="en-US" sz="1800" dirty="0"/>
              <a:t>Gradient of Loss</a:t>
            </a:r>
          </a:p>
          <a:p>
            <a:r>
              <a:rPr lang="en-US" sz="1800" dirty="0"/>
              <a:t>function:</a:t>
            </a:r>
          </a:p>
        </p:txBody>
      </p:sp>
      <p:sp>
        <p:nvSpPr>
          <p:cNvPr id="14" name="TextBox 13">
            <a:extLst>
              <a:ext uri="{FF2B5EF4-FFF2-40B4-BE49-F238E27FC236}">
                <a16:creationId xmlns:a16="http://schemas.microsoft.com/office/drawing/2014/main" id="{33D8170D-22AB-608F-53DC-FC21E34BF6AF}"/>
              </a:ext>
            </a:extLst>
          </p:cNvPr>
          <p:cNvSpPr txBox="1"/>
          <p:nvPr/>
        </p:nvSpPr>
        <p:spPr>
          <a:xfrm>
            <a:off x="398419" y="2926204"/>
            <a:ext cx="2082621" cy="369332"/>
          </a:xfrm>
          <a:prstGeom prst="rect">
            <a:avLst/>
          </a:prstGeom>
          <a:noFill/>
        </p:spPr>
        <p:txBody>
          <a:bodyPr wrap="none" rtlCol="0">
            <a:spAutoFit/>
          </a:bodyPr>
          <a:lstStyle/>
          <a:p>
            <a:r>
              <a:rPr lang="en-US" sz="1800" dirty="0"/>
              <a:t>Gradient equation:</a:t>
            </a:r>
          </a:p>
        </p:txBody>
      </p:sp>
      <p:sp>
        <p:nvSpPr>
          <p:cNvPr id="15" name="TextBox 14">
            <a:extLst>
              <a:ext uri="{FF2B5EF4-FFF2-40B4-BE49-F238E27FC236}">
                <a16:creationId xmlns:a16="http://schemas.microsoft.com/office/drawing/2014/main" id="{1B1E74ED-5865-F1CB-5EE4-F14CC50B05AB}"/>
              </a:ext>
            </a:extLst>
          </p:cNvPr>
          <p:cNvSpPr txBox="1"/>
          <p:nvPr/>
        </p:nvSpPr>
        <p:spPr>
          <a:xfrm>
            <a:off x="439084" y="4256975"/>
            <a:ext cx="2031325" cy="369332"/>
          </a:xfrm>
          <a:prstGeom prst="rect">
            <a:avLst/>
          </a:prstGeom>
          <a:noFill/>
        </p:spPr>
        <p:txBody>
          <a:bodyPr wrap="none" rtlCol="0">
            <a:spAutoFit/>
          </a:bodyPr>
          <a:lstStyle/>
          <a:p>
            <a:r>
              <a:rPr lang="en-US" sz="1800" dirty="0"/>
              <a:t>Nonlinear system:</a:t>
            </a:r>
          </a:p>
        </p:txBody>
      </p:sp>
    </p:spTree>
    <p:extLst>
      <p:ext uri="{BB962C8B-B14F-4D97-AF65-F5344CB8AC3E}">
        <p14:creationId xmlns:p14="http://schemas.microsoft.com/office/powerpoint/2010/main" val="3983535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Gradient Descent</a:t>
            </a:r>
            <a:endParaRPr dirty="0">
              <a:solidFill>
                <a:srgbClr val="FFFFFF"/>
              </a:solidFill>
              <a:latin typeface="Montserrat"/>
              <a:ea typeface="Montserrat"/>
              <a:cs typeface="Montserrat"/>
              <a:sym typeface="Montserrat"/>
            </a:endParaRPr>
          </a:p>
        </p:txBody>
      </p:sp>
      <p:sp>
        <p:nvSpPr>
          <p:cNvPr id="12" name="TextBox 11">
            <a:extLst>
              <a:ext uri="{FF2B5EF4-FFF2-40B4-BE49-F238E27FC236}">
                <a16:creationId xmlns:a16="http://schemas.microsoft.com/office/drawing/2014/main" id="{C212ECBA-9BF7-025E-CB58-07CFFF450C64}"/>
              </a:ext>
            </a:extLst>
          </p:cNvPr>
          <p:cNvSpPr txBox="1"/>
          <p:nvPr/>
        </p:nvSpPr>
        <p:spPr>
          <a:xfrm>
            <a:off x="1411985" y="3933810"/>
            <a:ext cx="3634328" cy="369332"/>
          </a:xfrm>
          <a:prstGeom prst="rect">
            <a:avLst/>
          </a:prstGeom>
          <a:noFill/>
        </p:spPr>
        <p:txBody>
          <a:bodyPr wrap="none" rtlCol="0">
            <a:spAutoFit/>
          </a:bodyPr>
          <a:lstStyle/>
          <a:p>
            <a:r>
              <a:rPr lang="en-US" sz="1800" dirty="0"/>
              <a:t>Convex function (strictly concave)</a:t>
            </a:r>
          </a:p>
        </p:txBody>
      </p:sp>
      <p:sp>
        <p:nvSpPr>
          <p:cNvPr id="15" name="TextBox 14">
            <a:extLst>
              <a:ext uri="{FF2B5EF4-FFF2-40B4-BE49-F238E27FC236}">
                <a16:creationId xmlns:a16="http://schemas.microsoft.com/office/drawing/2014/main" id="{1B1E74ED-5865-F1CB-5EE4-F14CC50B05AB}"/>
              </a:ext>
            </a:extLst>
          </p:cNvPr>
          <p:cNvSpPr txBox="1"/>
          <p:nvPr/>
        </p:nvSpPr>
        <p:spPr>
          <a:xfrm>
            <a:off x="5914852" y="3933810"/>
            <a:ext cx="2467342" cy="646331"/>
          </a:xfrm>
          <a:prstGeom prst="rect">
            <a:avLst/>
          </a:prstGeom>
          <a:noFill/>
        </p:spPr>
        <p:txBody>
          <a:bodyPr wrap="none" rtlCol="0">
            <a:spAutoFit/>
          </a:bodyPr>
          <a:lstStyle/>
          <a:p>
            <a:r>
              <a:rPr lang="en-US" sz="1800" dirty="0"/>
              <a:t>Non-convex function</a:t>
            </a:r>
          </a:p>
          <a:p>
            <a:r>
              <a:rPr lang="en-US" sz="1800" dirty="0"/>
              <a:t> (curves up and down)</a:t>
            </a:r>
          </a:p>
        </p:txBody>
      </p:sp>
      <p:pic>
        <p:nvPicPr>
          <p:cNvPr id="4" name="Picture 3" descr="A graph of a function&#10;&#10;Description automatically generated">
            <a:extLst>
              <a:ext uri="{FF2B5EF4-FFF2-40B4-BE49-F238E27FC236}">
                <a16:creationId xmlns:a16="http://schemas.microsoft.com/office/drawing/2014/main" id="{B49719F8-50E3-00E1-77BC-B4DDBE03F98C}"/>
              </a:ext>
            </a:extLst>
          </p:cNvPr>
          <p:cNvPicPr>
            <a:picLocks noChangeAspect="1"/>
          </p:cNvPicPr>
          <p:nvPr/>
        </p:nvPicPr>
        <p:blipFill>
          <a:blip r:embed="rId3"/>
          <a:stretch>
            <a:fillRect/>
          </a:stretch>
        </p:blipFill>
        <p:spPr>
          <a:xfrm>
            <a:off x="685800" y="1263018"/>
            <a:ext cx="7772400" cy="2508812"/>
          </a:xfrm>
          <a:prstGeom prst="rect">
            <a:avLst/>
          </a:prstGeom>
        </p:spPr>
      </p:pic>
      <p:sp>
        <p:nvSpPr>
          <p:cNvPr id="16" name="TextBox 15">
            <a:extLst>
              <a:ext uri="{FF2B5EF4-FFF2-40B4-BE49-F238E27FC236}">
                <a16:creationId xmlns:a16="http://schemas.microsoft.com/office/drawing/2014/main" id="{80E19053-3E34-3B2E-0649-6BF529C4CF8F}"/>
              </a:ext>
            </a:extLst>
          </p:cNvPr>
          <p:cNvSpPr txBox="1"/>
          <p:nvPr/>
        </p:nvSpPr>
        <p:spPr>
          <a:xfrm>
            <a:off x="988828" y="4742121"/>
            <a:ext cx="5131533" cy="307777"/>
          </a:xfrm>
          <a:prstGeom prst="rect">
            <a:avLst/>
          </a:prstGeom>
          <a:noFill/>
        </p:spPr>
        <p:txBody>
          <a:bodyPr wrap="none" rtlCol="0">
            <a:spAutoFit/>
          </a:bodyPr>
          <a:lstStyle/>
          <a:p>
            <a:r>
              <a:rPr lang="en-US" dirty="0">
                <a:solidFill>
                  <a:srgbClr val="00B0F0"/>
                </a:solidFill>
              </a:rPr>
              <a:t>Figure reference: </a:t>
            </a:r>
            <a:r>
              <a:rPr lang="en-US" dirty="0" err="1">
                <a:solidFill>
                  <a:srgbClr val="00B0F0"/>
                </a:solidFill>
              </a:rPr>
              <a:t>N.Kuz&amp;S.Brunton</a:t>
            </a:r>
            <a:r>
              <a:rPr lang="en-US" dirty="0">
                <a:solidFill>
                  <a:srgbClr val="00B0F0"/>
                </a:solidFill>
              </a:rPr>
              <a:t> Data-Driven Science Book</a:t>
            </a:r>
          </a:p>
        </p:txBody>
      </p:sp>
    </p:spTree>
    <p:extLst>
      <p:ext uri="{BB962C8B-B14F-4D97-AF65-F5344CB8AC3E}">
        <p14:creationId xmlns:p14="http://schemas.microsoft.com/office/powerpoint/2010/main" val="3208102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Gradient Descent</a:t>
            </a:r>
            <a:endParaRPr dirty="0">
              <a:solidFill>
                <a:srgbClr val="FFFFFF"/>
              </a:solidFill>
              <a:latin typeface="Montserrat"/>
              <a:ea typeface="Montserrat"/>
              <a:cs typeface="Montserrat"/>
              <a:sym typeface="Montserrat"/>
            </a:endParaRPr>
          </a:p>
        </p:txBody>
      </p:sp>
      <p:pic>
        <p:nvPicPr>
          <p:cNvPr id="3" name="Picture 2" descr="A math equations on a white background&#10;&#10;Description automatically generated">
            <a:extLst>
              <a:ext uri="{FF2B5EF4-FFF2-40B4-BE49-F238E27FC236}">
                <a16:creationId xmlns:a16="http://schemas.microsoft.com/office/drawing/2014/main" id="{A812B027-531B-81A0-C0C7-A278AA6726CC}"/>
              </a:ext>
            </a:extLst>
          </p:cNvPr>
          <p:cNvPicPr>
            <a:picLocks noChangeAspect="1"/>
          </p:cNvPicPr>
          <p:nvPr/>
        </p:nvPicPr>
        <p:blipFill>
          <a:blip r:embed="rId3"/>
          <a:stretch>
            <a:fillRect/>
          </a:stretch>
        </p:blipFill>
        <p:spPr>
          <a:xfrm>
            <a:off x="749743" y="883093"/>
            <a:ext cx="7311879" cy="2476795"/>
          </a:xfrm>
          <a:prstGeom prst="rect">
            <a:avLst/>
          </a:prstGeom>
        </p:spPr>
      </p:pic>
    </p:spTree>
    <p:extLst>
      <p:ext uri="{BB962C8B-B14F-4D97-AF65-F5344CB8AC3E}">
        <p14:creationId xmlns:p14="http://schemas.microsoft.com/office/powerpoint/2010/main" val="2242039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Gradient Descent</a:t>
            </a:r>
            <a:endParaRPr dirty="0">
              <a:solidFill>
                <a:srgbClr val="FFFFFF"/>
              </a:solidFill>
              <a:latin typeface="Montserrat"/>
              <a:ea typeface="Montserrat"/>
              <a:cs typeface="Montserrat"/>
              <a:sym typeface="Montserrat"/>
            </a:endParaRPr>
          </a:p>
        </p:txBody>
      </p:sp>
      <p:pic>
        <p:nvPicPr>
          <p:cNvPr id="4" name="Picture 3" descr="A screenshot of a computer&#10;&#10;Description automatically generated">
            <a:extLst>
              <a:ext uri="{FF2B5EF4-FFF2-40B4-BE49-F238E27FC236}">
                <a16:creationId xmlns:a16="http://schemas.microsoft.com/office/drawing/2014/main" id="{FC680E14-0721-A85F-D828-CCBCCED05EA8}"/>
              </a:ext>
            </a:extLst>
          </p:cNvPr>
          <p:cNvPicPr>
            <a:picLocks noChangeAspect="1"/>
          </p:cNvPicPr>
          <p:nvPr/>
        </p:nvPicPr>
        <p:blipFill>
          <a:blip r:embed="rId3"/>
          <a:stretch>
            <a:fillRect/>
          </a:stretch>
        </p:blipFill>
        <p:spPr>
          <a:xfrm>
            <a:off x="311700" y="1859229"/>
            <a:ext cx="8618803" cy="2999849"/>
          </a:xfrm>
          <a:prstGeom prst="rect">
            <a:avLst/>
          </a:prstGeom>
        </p:spPr>
      </p:pic>
      <p:pic>
        <p:nvPicPr>
          <p:cNvPr id="6" name="Picture 5" descr="A mathematical equation with numbers and symbols&#10;&#10;Description automatically generated">
            <a:extLst>
              <a:ext uri="{FF2B5EF4-FFF2-40B4-BE49-F238E27FC236}">
                <a16:creationId xmlns:a16="http://schemas.microsoft.com/office/drawing/2014/main" id="{5A2ABA07-1C6A-BDB3-255D-4CEB3309FD1A}"/>
              </a:ext>
            </a:extLst>
          </p:cNvPr>
          <p:cNvPicPr>
            <a:picLocks noChangeAspect="1"/>
          </p:cNvPicPr>
          <p:nvPr/>
        </p:nvPicPr>
        <p:blipFill>
          <a:blip r:embed="rId4"/>
          <a:stretch>
            <a:fillRect/>
          </a:stretch>
        </p:blipFill>
        <p:spPr>
          <a:xfrm>
            <a:off x="2989151" y="982929"/>
            <a:ext cx="3263900" cy="876300"/>
          </a:xfrm>
          <a:prstGeom prst="rect">
            <a:avLst/>
          </a:prstGeom>
        </p:spPr>
      </p:pic>
    </p:spTree>
    <p:extLst>
      <p:ext uri="{BB962C8B-B14F-4D97-AF65-F5344CB8AC3E}">
        <p14:creationId xmlns:p14="http://schemas.microsoft.com/office/powerpoint/2010/main" val="1604833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Gradient Descent</a:t>
            </a:r>
            <a:endParaRPr dirty="0">
              <a:solidFill>
                <a:srgbClr val="FFFFFF"/>
              </a:solidFill>
              <a:latin typeface="Montserrat"/>
              <a:ea typeface="Montserrat"/>
              <a:cs typeface="Montserrat"/>
              <a:sym typeface="Montserrat"/>
            </a:endParaRPr>
          </a:p>
        </p:txBody>
      </p:sp>
      <p:pic>
        <p:nvPicPr>
          <p:cNvPr id="3" name="Picture 2" descr="A group of mathematical equations&#10;&#10;Description automatically generated">
            <a:extLst>
              <a:ext uri="{FF2B5EF4-FFF2-40B4-BE49-F238E27FC236}">
                <a16:creationId xmlns:a16="http://schemas.microsoft.com/office/drawing/2014/main" id="{745CBFB5-ABB5-FF1E-9670-F51B3E0B7876}"/>
              </a:ext>
            </a:extLst>
          </p:cNvPr>
          <p:cNvPicPr>
            <a:picLocks noChangeAspect="1"/>
          </p:cNvPicPr>
          <p:nvPr/>
        </p:nvPicPr>
        <p:blipFill>
          <a:blip r:embed="rId3"/>
          <a:stretch>
            <a:fillRect/>
          </a:stretch>
        </p:blipFill>
        <p:spPr>
          <a:xfrm>
            <a:off x="3239098" y="866922"/>
            <a:ext cx="3335643" cy="1967464"/>
          </a:xfrm>
          <a:prstGeom prst="rect">
            <a:avLst/>
          </a:prstGeom>
        </p:spPr>
      </p:pic>
      <p:pic>
        <p:nvPicPr>
          <p:cNvPr id="7" name="Picture 6" descr="A black text on a white background&#10;&#10;Description automatically generated">
            <a:extLst>
              <a:ext uri="{FF2B5EF4-FFF2-40B4-BE49-F238E27FC236}">
                <a16:creationId xmlns:a16="http://schemas.microsoft.com/office/drawing/2014/main" id="{715D79C7-2EF3-3792-3AEB-EBB0A841A7CE}"/>
              </a:ext>
            </a:extLst>
          </p:cNvPr>
          <p:cNvPicPr>
            <a:picLocks noChangeAspect="1"/>
          </p:cNvPicPr>
          <p:nvPr/>
        </p:nvPicPr>
        <p:blipFill>
          <a:blip r:embed="rId4"/>
          <a:stretch>
            <a:fillRect/>
          </a:stretch>
        </p:blipFill>
        <p:spPr>
          <a:xfrm>
            <a:off x="4167590" y="2940684"/>
            <a:ext cx="2603500" cy="495300"/>
          </a:xfrm>
          <a:prstGeom prst="rect">
            <a:avLst/>
          </a:prstGeom>
        </p:spPr>
      </p:pic>
      <p:pic>
        <p:nvPicPr>
          <p:cNvPr id="9" name="Picture 8" descr="A white background with black text&#10;&#10;Description automatically generated">
            <a:extLst>
              <a:ext uri="{FF2B5EF4-FFF2-40B4-BE49-F238E27FC236}">
                <a16:creationId xmlns:a16="http://schemas.microsoft.com/office/drawing/2014/main" id="{323E602B-979E-1B6C-E4B2-0AF9E2975C93}"/>
              </a:ext>
            </a:extLst>
          </p:cNvPr>
          <p:cNvPicPr>
            <a:picLocks noChangeAspect="1"/>
          </p:cNvPicPr>
          <p:nvPr/>
        </p:nvPicPr>
        <p:blipFill>
          <a:blip r:embed="rId5"/>
          <a:stretch>
            <a:fillRect/>
          </a:stretch>
        </p:blipFill>
        <p:spPr>
          <a:xfrm>
            <a:off x="196770" y="3525370"/>
            <a:ext cx="8947230" cy="1197021"/>
          </a:xfrm>
          <a:prstGeom prst="rect">
            <a:avLst/>
          </a:prstGeom>
        </p:spPr>
      </p:pic>
      <p:sp>
        <p:nvSpPr>
          <p:cNvPr id="10" name="TextBox 9">
            <a:extLst>
              <a:ext uri="{FF2B5EF4-FFF2-40B4-BE49-F238E27FC236}">
                <a16:creationId xmlns:a16="http://schemas.microsoft.com/office/drawing/2014/main" id="{3DD54286-5F4D-F56F-EC2E-17E6EBB2EB4C}"/>
              </a:ext>
            </a:extLst>
          </p:cNvPr>
          <p:cNvSpPr txBox="1"/>
          <p:nvPr/>
        </p:nvSpPr>
        <p:spPr>
          <a:xfrm>
            <a:off x="446567" y="1019619"/>
            <a:ext cx="2573140" cy="307777"/>
          </a:xfrm>
          <a:prstGeom prst="rect">
            <a:avLst/>
          </a:prstGeom>
          <a:noFill/>
        </p:spPr>
        <p:txBody>
          <a:bodyPr wrap="none" rtlCol="0">
            <a:spAutoFit/>
          </a:bodyPr>
          <a:lstStyle/>
          <a:p>
            <a:r>
              <a:rPr lang="en-US" dirty="0"/>
              <a:t>Derivative of the loss function:</a:t>
            </a:r>
          </a:p>
        </p:txBody>
      </p:sp>
      <p:sp>
        <p:nvSpPr>
          <p:cNvPr id="11" name="TextBox 10">
            <a:extLst>
              <a:ext uri="{FF2B5EF4-FFF2-40B4-BE49-F238E27FC236}">
                <a16:creationId xmlns:a16="http://schemas.microsoft.com/office/drawing/2014/main" id="{45D4AD9B-EE0C-AADA-998D-CE165BB6FF98}"/>
              </a:ext>
            </a:extLst>
          </p:cNvPr>
          <p:cNvSpPr txBox="1"/>
          <p:nvPr/>
        </p:nvSpPr>
        <p:spPr>
          <a:xfrm>
            <a:off x="446567" y="3000217"/>
            <a:ext cx="3635932" cy="307777"/>
          </a:xfrm>
          <a:prstGeom prst="rect">
            <a:avLst/>
          </a:prstGeom>
          <a:noFill/>
        </p:spPr>
        <p:txBody>
          <a:bodyPr wrap="none" rtlCol="0">
            <a:spAutoFit/>
          </a:bodyPr>
          <a:lstStyle/>
          <a:p>
            <a:r>
              <a:rPr lang="en-US" dirty="0"/>
              <a:t>Updating rule for single training data point </a:t>
            </a:r>
            <a:r>
              <a:rPr lang="en-US" dirty="0" err="1"/>
              <a:t>i</a:t>
            </a:r>
            <a:r>
              <a:rPr lang="en-US" dirty="0"/>
              <a:t>:</a:t>
            </a:r>
          </a:p>
        </p:txBody>
      </p:sp>
    </p:spTree>
    <p:extLst>
      <p:ext uri="{BB962C8B-B14F-4D97-AF65-F5344CB8AC3E}">
        <p14:creationId xmlns:p14="http://schemas.microsoft.com/office/powerpoint/2010/main" val="1580721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Batch Gradient Descent</a:t>
            </a:r>
            <a:endParaRPr dirty="0">
              <a:solidFill>
                <a:srgbClr val="FFFFFF"/>
              </a:solidFill>
              <a:latin typeface="Montserrat"/>
              <a:ea typeface="Montserrat"/>
              <a:cs typeface="Montserrat"/>
              <a:sym typeface="Montserrat"/>
            </a:endParaRPr>
          </a:p>
        </p:txBody>
      </p:sp>
      <p:sp>
        <p:nvSpPr>
          <p:cNvPr id="10" name="TextBox 9">
            <a:extLst>
              <a:ext uri="{FF2B5EF4-FFF2-40B4-BE49-F238E27FC236}">
                <a16:creationId xmlns:a16="http://schemas.microsoft.com/office/drawing/2014/main" id="{3DD54286-5F4D-F56F-EC2E-17E6EBB2EB4C}"/>
              </a:ext>
            </a:extLst>
          </p:cNvPr>
          <p:cNvSpPr txBox="1"/>
          <p:nvPr/>
        </p:nvSpPr>
        <p:spPr>
          <a:xfrm>
            <a:off x="608603" y="1003759"/>
            <a:ext cx="1685077" cy="307777"/>
          </a:xfrm>
          <a:prstGeom prst="rect">
            <a:avLst/>
          </a:prstGeom>
          <a:noFill/>
        </p:spPr>
        <p:txBody>
          <a:bodyPr wrap="none" rtlCol="0">
            <a:spAutoFit/>
          </a:bodyPr>
          <a:lstStyle/>
          <a:p>
            <a:r>
              <a:rPr lang="en-US" dirty="0"/>
              <a:t>For one data point:</a:t>
            </a:r>
          </a:p>
        </p:txBody>
      </p:sp>
      <p:pic>
        <p:nvPicPr>
          <p:cNvPr id="4" name="Picture 3">
            <a:extLst>
              <a:ext uri="{FF2B5EF4-FFF2-40B4-BE49-F238E27FC236}">
                <a16:creationId xmlns:a16="http://schemas.microsoft.com/office/drawing/2014/main" id="{63AADD99-E984-94FF-7EC9-2DF444ACE745}"/>
              </a:ext>
            </a:extLst>
          </p:cNvPr>
          <p:cNvPicPr>
            <a:picLocks noChangeAspect="1"/>
          </p:cNvPicPr>
          <p:nvPr/>
        </p:nvPicPr>
        <p:blipFill>
          <a:blip r:embed="rId3"/>
          <a:stretch>
            <a:fillRect/>
          </a:stretch>
        </p:blipFill>
        <p:spPr>
          <a:xfrm>
            <a:off x="2844387" y="1927481"/>
            <a:ext cx="5130800" cy="609600"/>
          </a:xfrm>
          <a:prstGeom prst="rect">
            <a:avLst/>
          </a:prstGeom>
        </p:spPr>
      </p:pic>
      <p:pic>
        <p:nvPicPr>
          <p:cNvPr id="6" name="Picture 5" descr="A black and white math symbol&#10;&#10;Description automatically generated">
            <a:extLst>
              <a:ext uri="{FF2B5EF4-FFF2-40B4-BE49-F238E27FC236}">
                <a16:creationId xmlns:a16="http://schemas.microsoft.com/office/drawing/2014/main" id="{FBA16AFA-7C10-E6BD-E890-D02FA7E349CF}"/>
              </a:ext>
            </a:extLst>
          </p:cNvPr>
          <p:cNvPicPr>
            <a:picLocks noChangeAspect="1"/>
          </p:cNvPicPr>
          <p:nvPr/>
        </p:nvPicPr>
        <p:blipFill>
          <a:blip r:embed="rId4"/>
          <a:stretch>
            <a:fillRect/>
          </a:stretch>
        </p:blipFill>
        <p:spPr>
          <a:xfrm>
            <a:off x="2844387" y="2829312"/>
            <a:ext cx="2717800" cy="660400"/>
          </a:xfrm>
          <a:prstGeom prst="rect">
            <a:avLst/>
          </a:prstGeom>
        </p:spPr>
      </p:pic>
      <p:pic>
        <p:nvPicPr>
          <p:cNvPr id="12" name="Picture 11" descr="A black text with a number&#10;&#10;Description automatically generated with medium confidence">
            <a:extLst>
              <a:ext uri="{FF2B5EF4-FFF2-40B4-BE49-F238E27FC236}">
                <a16:creationId xmlns:a16="http://schemas.microsoft.com/office/drawing/2014/main" id="{C4B2C3F1-5FEC-C002-50AE-5B063B7F406B}"/>
              </a:ext>
            </a:extLst>
          </p:cNvPr>
          <p:cNvPicPr>
            <a:picLocks noChangeAspect="1"/>
          </p:cNvPicPr>
          <p:nvPr/>
        </p:nvPicPr>
        <p:blipFill>
          <a:blip r:embed="rId5"/>
          <a:stretch>
            <a:fillRect/>
          </a:stretch>
        </p:blipFill>
        <p:spPr>
          <a:xfrm>
            <a:off x="789356" y="2886607"/>
            <a:ext cx="1917700" cy="393700"/>
          </a:xfrm>
          <a:prstGeom prst="rect">
            <a:avLst/>
          </a:prstGeom>
        </p:spPr>
      </p:pic>
      <p:pic>
        <p:nvPicPr>
          <p:cNvPr id="13" name="Picture 12" descr="A black text on a white background&#10;&#10;Description automatically generated">
            <a:extLst>
              <a:ext uri="{FF2B5EF4-FFF2-40B4-BE49-F238E27FC236}">
                <a16:creationId xmlns:a16="http://schemas.microsoft.com/office/drawing/2014/main" id="{C099B436-4516-59F2-193B-8C0DBE399E14}"/>
              </a:ext>
            </a:extLst>
          </p:cNvPr>
          <p:cNvPicPr>
            <a:picLocks noChangeAspect="1"/>
          </p:cNvPicPr>
          <p:nvPr/>
        </p:nvPicPr>
        <p:blipFill>
          <a:blip r:embed="rId6"/>
          <a:stretch>
            <a:fillRect/>
          </a:stretch>
        </p:blipFill>
        <p:spPr>
          <a:xfrm>
            <a:off x="2844387" y="922747"/>
            <a:ext cx="2603500" cy="495300"/>
          </a:xfrm>
          <a:prstGeom prst="rect">
            <a:avLst/>
          </a:prstGeom>
        </p:spPr>
      </p:pic>
      <p:sp>
        <p:nvSpPr>
          <p:cNvPr id="14" name="TextBox 13">
            <a:extLst>
              <a:ext uri="{FF2B5EF4-FFF2-40B4-BE49-F238E27FC236}">
                <a16:creationId xmlns:a16="http://schemas.microsoft.com/office/drawing/2014/main" id="{811B7A74-50DB-44EA-7300-EAFBE4273764}"/>
              </a:ext>
            </a:extLst>
          </p:cNvPr>
          <p:cNvSpPr txBox="1"/>
          <p:nvPr/>
        </p:nvSpPr>
        <p:spPr>
          <a:xfrm>
            <a:off x="608602" y="2078131"/>
            <a:ext cx="1635384" cy="307777"/>
          </a:xfrm>
          <a:prstGeom prst="rect">
            <a:avLst/>
          </a:prstGeom>
          <a:noFill/>
        </p:spPr>
        <p:txBody>
          <a:bodyPr wrap="none" rtlCol="0">
            <a:spAutoFit/>
          </a:bodyPr>
          <a:lstStyle/>
          <a:p>
            <a:r>
              <a:rPr lang="en-US" dirty="0"/>
              <a:t>For n- data points:</a:t>
            </a:r>
          </a:p>
        </p:txBody>
      </p:sp>
      <p:sp>
        <p:nvSpPr>
          <p:cNvPr id="15" name="TextBox 14">
            <a:extLst>
              <a:ext uri="{FF2B5EF4-FFF2-40B4-BE49-F238E27FC236}">
                <a16:creationId xmlns:a16="http://schemas.microsoft.com/office/drawing/2014/main" id="{F88E23D1-C652-BC02-44D8-90E0E6652D50}"/>
              </a:ext>
            </a:extLst>
          </p:cNvPr>
          <p:cNvSpPr txBox="1"/>
          <p:nvPr/>
        </p:nvSpPr>
        <p:spPr>
          <a:xfrm>
            <a:off x="608602" y="3583155"/>
            <a:ext cx="6823526" cy="1323439"/>
          </a:xfrm>
          <a:prstGeom prst="rect">
            <a:avLst/>
          </a:prstGeom>
          <a:noFill/>
        </p:spPr>
        <p:txBody>
          <a:bodyPr wrap="square" rtlCol="0">
            <a:spAutoFit/>
          </a:bodyPr>
          <a:lstStyle/>
          <a:p>
            <a:pPr marL="285750" indent="-285750">
              <a:buFont typeface="Arial" panose="020B0604020202020204" pitchFamily="34" charset="0"/>
              <a:buChar char="•"/>
            </a:pPr>
            <a:r>
              <a:rPr lang="en-US" sz="1600" b="1" dirty="0"/>
              <a:t>Batch gradient descent (BGD)</a:t>
            </a:r>
          </a:p>
          <a:p>
            <a:pPr marL="285750" indent="-285750">
              <a:buFont typeface="Arial" panose="020B0604020202020204" pitchFamily="34" charset="0"/>
              <a:buChar char="•"/>
            </a:pPr>
            <a:r>
              <a:rPr lang="en-US" sz="1600" dirty="0"/>
              <a:t>GD can be susceptible to local minimum</a:t>
            </a:r>
          </a:p>
          <a:p>
            <a:pPr marL="285750" indent="-285750">
              <a:buFont typeface="Arial" panose="020B0604020202020204" pitchFamily="34" charset="0"/>
              <a:buChar char="•"/>
            </a:pPr>
            <a:r>
              <a:rPr lang="en-US" sz="1600" dirty="0"/>
              <a:t>Linear regression (least-square fitting) always converge to global minimum.</a:t>
            </a:r>
          </a:p>
          <a:p>
            <a:pPr marL="285750" indent="-285750">
              <a:buFont typeface="Arial" panose="020B0604020202020204" pitchFamily="34" charset="0"/>
              <a:buChar char="•"/>
            </a:pPr>
            <a:r>
              <a:rPr lang="en-US" sz="1600" dirty="0"/>
              <a:t>The loss function is a convex quadratic function.</a:t>
            </a:r>
          </a:p>
        </p:txBody>
      </p:sp>
    </p:spTree>
    <p:extLst>
      <p:ext uri="{BB962C8B-B14F-4D97-AF65-F5344CB8AC3E}">
        <p14:creationId xmlns:p14="http://schemas.microsoft.com/office/powerpoint/2010/main" val="2484988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Stochastic Gradient Descent</a:t>
            </a:r>
            <a:endParaRPr dirty="0">
              <a:solidFill>
                <a:srgbClr val="FFFFFF"/>
              </a:solidFill>
              <a:latin typeface="Montserrat"/>
              <a:ea typeface="Montserrat"/>
              <a:cs typeface="Montserrat"/>
              <a:sym typeface="Montserrat"/>
            </a:endParaRPr>
          </a:p>
        </p:txBody>
      </p:sp>
      <p:pic>
        <p:nvPicPr>
          <p:cNvPr id="3" name="Picture 2" descr="A math equations on a white background&#10;&#10;Description automatically generated">
            <a:extLst>
              <a:ext uri="{FF2B5EF4-FFF2-40B4-BE49-F238E27FC236}">
                <a16:creationId xmlns:a16="http://schemas.microsoft.com/office/drawing/2014/main" id="{1ACB4900-DAFE-F15C-BEAC-44A48F511CF9}"/>
              </a:ext>
            </a:extLst>
          </p:cNvPr>
          <p:cNvPicPr>
            <a:picLocks noChangeAspect="1"/>
          </p:cNvPicPr>
          <p:nvPr/>
        </p:nvPicPr>
        <p:blipFill>
          <a:blip r:embed="rId3"/>
          <a:stretch>
            <a:fillRect/>
          </a:stretch>
        </p:blipFill>
        <p:spPr>
          <a:xfrm>
            <a:off x="4599647" y="760623"/>
            <a:ext cx="4232653" cy="2184595"/>
          </a:xfrm>
          <a:prstGeom prst="rect">
            <a:avLst/>
          </a:prstGeom>
        </p:spPr>
      </p:pic>
      <p:sp>
        <p:nvSpPr>
          <p:cNvPr id="5" name="TextBox 4">
            <a:extLst>
              <a:ext uri="{FF2B5EF4-FFF2-40B4-BE49-F238E27FC236}">
                <a16:creationId xmlns:a16="http://schemas.microsoft.com/office/drawing/2014/main" id="{5D318CC8-DDDB-626A-5AF3-32A6EC003D4F}"/>
              </a:ext>
            </a:extLst>
          </p:cNvPr>
          <p:cNvSpPr txBox="1"/>
          <p:nvPr/>
        </p:nvSpPr>
        <p:spPr>
          <a:xfrm>
            <a:off x="311700" y="973275"/>
            <a:ext cx="6823526" cy="4616648"/>
          </a:xfrm>
          <a:prstGeom prst="rect">
            <a:avLst/>
          </a:prstGeom>
          <a:noFill/>
        </p:spPr>
        <p:txBody>
          <a:bodyPr wrap="square" rtlCol="0">
            <a:spAutoFit/>
          </a:bodyPr>
          <a:lstStyle/>
          <a:p>
            <a:pPr marL="285750" indent="-285750">
              <a:buFont typeface="Arial" panose="020B0604020202020204" pitchFamily="34" charset="0"/>
              <a:buChar char="•"/>
            </a:pPr>
            <a:r>
              <a:rPr lang="en-US" dirty="0"/>
              <a:t>Each time we update the parameters</a:t>
            </a:r>
          </a:p>
          <a:p>
            <a:r>
              <a:rPr lang="en-US" dirty="0"/>
              <a:t>      according </a:t>
            </a:r>
            <a:r>
              <a:rPr lang="en-US" b="1" dirty="0"/>
              <a:t>one training data</a:t>
            </a:r>
          </a:p>
          <a:p>
            <a:endParaRPr lang="en-US" b="1" dirty="0"/>
          </a:p>
          <a:p>
            <a:pPr marL="285750" indent="-285750">
              <a:buFont typeface="Arial" panose="020B0604020202020204" pitchFamily="34" charset="0"/>
              <a:buChar char="•"/>
            </a:pPr>
            <a:r>
              <a:rPr lang="en-US" dirty="0"/>
              <a:t>This algorithm is called </a:t>
            </a:r>
            <a:r>
              <a:rPr lang="en-US" b="1" dirty="0"/>
              <a:t>Stochastic Gradient </a:t>
            </a:r>
          </a:p>
          <a:p>
            <a:r>
              <a:rPr lang="en-US" b="1" dirty="0"/>
              <a:t>      Descent (SGD)</a:t>
            </a:r>
          </a:p>
          <a:p>
            <a:endParaRPr lang="en-US" b="1" dirty="0"/>
          </a:p>
          <a:p>
            <a:pPr marL="285750" indent="-285750">
              <a:buFont typeface="Arial" panose="020B0604020202020204" pitchFamily="34" charset="0"/>
              <a:buChar char="•"/>
            </a:pPr>
            <a:r>
              <a:rPr lang="en-US" dirty="0"/>
              <a:t>The BGD has to scan through the entire training </a:t>
            </a:r>
          </a:p>
          <a:p>
            <a:r>
              <a:rPr lang="en-US" dirty="0"/>
              <a:t>      set before taking an update of the parameters. </a:t>
            </a:r>
          </a:p>
          <a:p>
            <a:r>
              <a:rPr lang="en-US" dirty="0"/>
              <a:t>      Computationally expensive if n is large. </a:t>
            </a:r>
          </a:p>
          <a:p>
            <a:r>
              <a:rPr lang="en-US" dirty="0"/>
              <a:t>      (think about if you have 1 million dataset).</a:t>
            </a:r>
          </a:p>
          <a:p>
            <a:endParaRPr lang="en-US" dirty="0"/>
          </a:p>
          <a:p>
            <a:pPr marL="285750" indent="-285750">
              <a:buFont typeface="Arial" panose="020B0604020202020204" pitchFamily="34" charset="0"/>
              <a:buChar char="•"/>
            </a:pPr>
            <a:r>
              <a:rPr lang="en-US" dirty="0"/>
              <a:t>SGD can start making progress right away, and </a:t>
            </a:r>
          </a:p>
          <a:p>
            <a:r>
              <a:rPr lang="en-US" dirty="0"/>
              <a:t>      continues to make progress with each example it looks at.</a:t>
            </a:r>
          </a:p>
          <a:p>
            <a:endParaRPr lang="en-US" dirty="0"/>
          </a:p>
          <a:p>
            <a:pPr marL="285750" indent="-285750">
              <a:buFont typeface="Arial" panose="020B0604020202020204" pitchFamily="34" charset="0"/>
              <a:buChar char="•"/>
            </a:pPr>
            <a:r>
              <a:rPr lang="en-US" dirty="0"/>
              <a:t>SGD gets </a:t>
            </a:r>
            <a:r>
              <a:rPr lang="el-GR" dirty="0"/>
              <a:t>θ "</a:t>
            </a:r>
            <a:r>
              <a:rPr lang="en-US" dirty="0"/>
              <a:t>close" to the minimum much faster than BGD. However, it may never converge to the minimum, and the </a:t>
            </a:r>
            <a:r>
              <a:rPr lang="en-US" dirty="0" err="1"/>
              <a:t>paramters</a:t>
            </a:r>
            <a:r>
              <a:rPr lang="en-US" dirty="0"/>
              <a:t> </a:t>
            </a:r>
            <a:r>
              <a:rPr lang="el-GR" dirty="0"/>
              <a:t>θ </a:t>
            </a:r>
            <a:r>
              <a:rPr lang="en-US" dirty="0"/>
              <a:t>will keep oscillating around the minimum of L(</a:t>
            </a:r>
            <a:r>
              <a:rPr lang="el-GR" dirty="0"/>
              <a:t>θ). </a:t>
            </a:r>
            <a:r>
              <a:rPr lang="en-US" dirty="0"/>
              <a:t>But in practice, most of the values near the minimum will be reasonably good approximations to the true minimum.</a:t>
            </a:r>
          </a:p>
          <a:p>
            <a:endParaRPr lang="en-US" dirty="0"/>
          </a:p>
          <a:p>
            <a:endParaRPr lang="en-US" dirty="0"/>
          </a:p>
          <a:p>
            <a:endParaRPr lang="en-US" dirty="0"/>
          </a:p>
        </p:txBody>
      </p:sp>
    </p:spTree>
    <p:extLst>
      <p:ext uri="{BB962C8B-B14F-4D97-AF65-F5344CB8AC3E}">
        <p14:creationId xmlns:p14="http://schemas.microsoft.com/office/powerpoint/2010/main" val="2294240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Stochastic Gradient Descent</a:t>
            </a:r>
            <a:endParaRPr dirty="0">
              <a:solidFill>
                <a:srgbClr val="FFFFFF"/>
              </a:solidFill>
              <a:latin typeface="Montserrat"/>
              <a:ea typeface="Montserrat"/>
              <a:cs typeface="Montserrat"/>
              <a:sym typeface="Montserrat"/>
            </a:endParaRPr>
          </a:p>
        </p:txBody>
      </p:sp>
      <p:pic>
        <p:nvPicPr>
          <p:cNvPr id="3" name="Picture 2" descr="A math equations on a white background&#10;&#10;Description automatically generated">
            <a:extLst>
              <a:ext uri="{FF2B5EF4-FFF2-40B4-BE49-F238E27FC236}">
                <a16:creationId xmlns:a16="http://schemas.microsoft.com/office/drawing/2014/main" id="{1ACB4900-DAFE-F15C-BEAC-44A48F511CF9}"/>
              </a:ext>
            </a:extLst>
          </p:cNvPr>
          <p:cNvPicPr>
            <a:picLocks noChangeAspect="1"/>
          </p:cNvPicPr>
          <p:nvPr/>
        </p:nvPicPr>
        <p:blipFill>
          <a:blip r:embed="rId3"/>
          <a:stretch>
            <a:fillRect/>
          </a:stretch>
        </p:blipFill>
        <p:spPr>
          <a:xfrm>
            <a:off x="4282529" y="1240171"/>
            <a:ext cx="4549771" cy="2348269"/>
          </a:xfrm>
          <a:prstGeom prst="rect">
            <a:avLst/>
          </a:prstGeom>
        </p:spPr>
      </p:pic>
      <p:pic>
        <p:nvPicPr>
          <p:cNvPr id="2" name="Picture 1" descr="A black and white math symbol&#10;&#10;Description automatically generated">
            <a:extLst>
              <a:ext uri="{FF2B5EF4-FFF2-40B4-BE49-F238E27FC236}">
                <a16:creationId xmlns:a16="http://schemas.microsoft.com/office/drawing/2014/main" id="{4D833653-D53D-27D5-4E63-8884357416E5}"/>
              </a:ext>
            </a:extLst>
          </p:cNvPr>
          <p:cNvPicPr>
            <a:picLocks noChangeAspect="1"/>
          </p:cNvPicPr>
          <p:nvPr/>
        </p:nvPicPr>
        <p:blipFill>
          <a:blip r:embed="rId4"/>
          <a:stretch>
            <a:fillRect/>
          </a:stretch>
        </p:blipFill>
        <p:spPr>
          <a:xfrm>
            <a:off x="726370" y="1174614"/>
            <a:ext cx="2717800" cy="660400"/>
          </a:xfrm>
          <a:prstGeom prst="rect">
            <a:avLst/>
          </a:prstGeom>
        </p:spPr>
      </p:pic>
      <p:sp>
        <p:nvSpPr>
          <p:cNvPr id="4" name="TextBox 3">
            <a:extLst>
              <a:ext uri="{FF2B5EF4-FFF2-40B4-BE49-F238E27FC236}">
                <a16:creationId xmlns:a16="http://schemas.microsoft.com/office/drawing/2014/main" id="{84401DED-7A39-732D-1D11-21BF63E38725}"/>
              </a:ext>
            </a:extLst>
          </p:cNvPr>
          <p:cNvSpPr txBox="1"/>
          <p:nvPr/>
        </p:nvSpPr>
        <p:spPr>
          <a:xfrm>
            <a:off x="726370" y="966149"/>
            <a:ext cx="940803" cy="307777"/>
          </a:xfrm>
          <a:prstGeom prst="rect">
            <a:avLst/>
          </a:prstGeom>
          <a:noFill/>
        </p:spPr>
        <p:txBody>
          <a:bodyPr wrap="square" rtlCol="0">
            <a:spAutoFit/>
          </a:bodyPr>
          <a:lstStyle/>
          <a:p>
            <a:r>
              <a:rPr lang="en-US" b="1" dirty="0"/>
              <a:t>BGD:</a:t>
            </a:r>
            <a:endParaRPr lang="en-US" dirty="0"/>
          </a:p>
        </p:txBody>
      </p:sp>
      <p:sp>
        <p:nvSpPr>
          <p:cNvPr id="6" name="TextBox 5">
            <a:extLst>
              <a:ext uri="{FF2B5EF4-FFF2-40B4-BE49-F238E27FC236}">
                <a16:creationId xmlns:a16="http://schemas.microsoft.com/office/drawing/2014/main" id="{0929AA7D-5611-0DCB-4468-9953868D6237}"/>
              </a:ext>
            </a:extLst>
          </p:cNvPr>
          <p:cNvSpPr txBox="1"/>
          <p:nvPr/>
        </p:nvSpPr>
        <p:spPr>
          <a:xfrm>
            <a:off x="4138133" y="921937"/>
            <a:ext cx="940803" cy="307777"/>
          </a:xfrm>
          <a:prstGeom prst="rect">
            <a:avLst/>
          </a:prstGeom>
          <a:noFill/>
        </p:spPr>
        <p:txBody>
          <a:bodyPr wrap="square" rtlCol="0">
            <a:spAutoFit/>
          </a:bodyPr>
          <a:lstStyle/>
          <a:p>
            <a:r>
              <a:rPr lang="en-US" b="1" dirty="0"/>
              <a:t>SGD:</a:t>
            </a:r>
          </a:p>
        </p:txBody>
      </p:sp>
      <p:pic>
        <p:nvPicPr>
          <p:cNvPr id="8" name="Picture 7" descr="A graph with a line&#10;&#10;Description automatically generated">
            <a:extLst>
              <a:ext uri="{FF2B5EF4-FFF2-40B4-BE49-F238E27FC236}">
                <a16:creationId xmlns:a16="http://schemas.microsoft.com/office/drawing/2014/main" id="{F1F972DB-37D3-0D21-61C8-5EE466B30BAD}"/>
              </a:ext>
            </a:extLst>
          </p:cNvPr>
          <p:cNvPicPr>
            <a:picLocks noChangeAspect="1"/>
          </p:cNvPicPr>
          <p:nvPr/>
        </p:nvPicPr>
        <p:blipFill>
          <a:blip r:embed="rId5"/>
          <a:stretch>
            <a:fillRect/>
          </a:stretch>
        </p:blipFill>
        <p:spPr>
          <a:xfrm>
            <a:off x="311700" y="1835014"/>
            <a:ext cx="3970829" cy="3131282"/>
          </a:xfrm>
          <a:prstGeom prst="rect">
            <a:avLst/>
          </a:prstGeom>
        </p:spPr>
      </p:pic>
      <p:sp>
        <p:nvSpPr>
          <p:cNvPr id="9" name="TextBox 8">
            <a:extLst>
              <a:ext uri="{FF2B5EF4-FFF2-40B4-BE49-F238E27FC236}">
                <a16:creationId xmlns:a16="http://schemas.microsoft.com/office/drawing/2014/main" id="{8821096F-5650-EAAA-282C-EBB8BD530522}"/>
              </a:ext>
            </a:extLst>
          </p:cNvPr>
          <p:cNvSpPr txBox="1"/>
          <p:nvPr/>
        </p:nvSpPr>
        <p:spPr>
          <a:xfrm>
            <a:off x="4407089" y="3777206"/>
            <a:ext cx="4425211" cy="523220"/>
          </a:xfrm>
          <a:prstGeom prst="rect">
            <a:avLst/>
          </a:prstGeom>
          <a:noFill/>
        </p:spPr>
        <p:txBody>
          <a:bodyPr wrap="square" rtlCol="0">
            <a:spAutoFit/>
          </a:bodyPr>
          <a:lstStyle/>
          <a:p>
            <a:r>
              <a:rPr lang="en-US" b="1" dirty="0">
                <a:solidFill>
                  <a:srgbClr val="7030A0"/>
                </a:solidFill>
              </a:rPr>
              <a:t>For these reasons, particularly when the training dataset is large, SGD is often preferred over BGD.</a:t>
            </a:r>
          </a:p>
        </p:txBody>
      </p:sp>
    </p:spTree>
    <p:extLst>
      <p:ext uri="{BB962C8B-B14F-4D97-AF65-F5344CB8AC3E}">
        <p14:creationId xmlns:p14="http://schemas.microsoft.com/office/powerpoint/2010/main" val="4194871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Stochastic Gradient Descent</a:t>
            </a:r>
            <a:endParaRPr dirty="0">
              <a:solidFill>
                <a:srgbClr val="FFFFFF"/>
              </a:solidFill>
              <a:latin typeface="Montserrat"/>
              <a:ea typeface="Montserrat"/>
              <a:cs typeface="Montserrat"/>
              <a:sym typeface="Montserrat"/>
            </a:endParaRPr>
          </a:p>
        </p:txBody>
      </p:sp>
      <p:sp>
        <p:nvSpPr>
          <p:cNvPr id="4" name="TextBox 3">
            <a:extLst>
              <a:ext uri="{FF2B5EF4-FFF2-40B4-BE49-F238E27FC236}">
                <a16:creationId xmlns:a16="http://schemas.microsoft.com/office/drawing/2014/main" id="{84401DED-7A39-732D-1D11-21BF63E38725}"/>
              </a:ext>
            </a:extLst>
          </p:cNvPr>
          <p:cNvSpPr txBox="1"/>
          <p:nvPr/>
        </p:nvSpPr>
        <p:spPr>
          <a:xfrm>
            <a:off x="6044688" y="1479451"/>
            <a:ext cx="940803" cy="307777"/>
          </a:xfrm>
          <a:prstGeom prst="rect">
            <a:avLst/>
          </a:prstGeom>
          <a:noFill/>
        </p:spPr>
        <p:txBody>
          <a:bodyPr wrap="square" rtlCol="0">
            <a:spAutoFit/>
          </a:bodyPr>
          <a:lstStyle/>
          <a:p>
            <a:r>
              <a:rPr lang="en-US" b="1" dirty="0"/>
              <a:t>BGD:</a:t>
            </a:r>
            <a:endParaRPr lang="en-US" dirty="0"/>
          </a:p>
        </p:txBody>
      </p:sp>
      <p:sp>
        <p:nvSpPr>
          <p:cNvPr id="6" name="TextBox 5">
            <a:extLst>
              <a:ext uri="{FF2B5EF4-FFF2-40B4-BE49-F238E27FC236}">
                <a16:creationId xmlns:a16="http://schemas.microsoft.com/office/drawing/2014/main" id="{0929AA7D-5611-0DCB-4468-9953868D6237}"/>
              </a:ext>
            </a:extLst>
          </p:cNvPr>
          <p:cNvSpPr txBox="1"/>
          <p:nvPr/>
        </p:nvSpPr>
        <p:spPr>
          <a:xfrm>
            <a:off x="1538152" y="1479451"/>
            <a:ext cx="940803" cy="307777"/>
          </a:xfrm>
          <a:prstGeom prst="rect">
            <a:avLst/>
          </a:prstGeom>
          <a:noFill/>
        </p:spPr>
        <p:txBody>
          <a:bodyPr wrap="square" rtlCol="0">
            <a:spAutoFit/>
          </a:bodyPr>
          <a:lstStyle/>
          <a:p>
            <a:r>
              <a:rPr lang="en-US" b="1" dirty="0"/>
              <a:t>SGD:</a:t>
            </a:r>
          </a:p>
        </p:txBody>
      </p:sp>
      <p:pic>
        <p:nvPicPr>
          <p:cNvPr id="8" name="Picture 7" descr="A graph with a line&#10;&#10;Description automatically generated">
            <a:extLst>
              <a:ext uri="{FF2B5EF4-FFF2-40B4-BE49-F238E27FC236}">
                <a16:creationId xmlns:a16="http://schemas.microsoft.com/office/drawing/2014/main" id="{F1F972DB-37D3-0D21-61C8-5EE466B30BAD}"/>
              </a:ext>
            </a:extLst>
          </p:cNvPr>
          <p:cNvPicPr>
            <a:picLocks noChangeAspect="1"/>
          </p:cNvPicPr>
          <p:nvPr/>
        </p:nvPicPr>
        <p:blipFill>
          <a:blip r:embed="rId3"/>
          <a:stretch>
            <a:fillRect/>
          </a:stretch>
        </p:blipFill>
        <p:spPr>
          <a:xfrm>
            <a:off x="311700" y="1835014"/>
            <a:ext cx="3970829" cy="3131282"/>
          </a:xfrm>
          <a:prstGeom prst="rect">
            <a:avLst/>
          </a:prstGeom>
        </p:spPr>
      </p:pic>
      <p:pic>
        <p:nvPicPr>
          <p:cNvPr id="7" name="Picture 6" descr="A graph with a line going up&#10;&#10;Description automatically generated">
            <a:extLst>
              <a:ext uri="{FF2B5EF4-FFF2-40B4-BE49-F238E27FC236}">
                <a16:creationId xmlns:a16="http://schemas.microsoft.com/office/drawing/2014/main" id="{19E8AB73-CFC1-8F55-7959-3A221D9544C7}"/>
              </a:ext>
            </a:extLst>
          </p:cNvPr>
          <p:cNvPicPr>
            <a:picLocks noChangeAspect="1"/>
          </p:cNvPicPr>
          <p:nvPr/>
        </p:nvPicPr>
        <p:blipFill>
          <a:blip r:embed="rId4"/>
          <a:stretch>
            <a:fillRect/>
          </a:stretch>
        </p:blipFill>
        <p:spPr>
          <a:xfrm>
            <a:off x="4456450" y="1835014"/>
            <a:ext cx="4117281" cy="3179068"/>
          </a:xfrm>
          <a:prstGeom prst="rect">
            <a:avLst/>
          </a:prstGeom>
        </p:spPr>
      </p:pic>
    </p:spTree>
    <p:extLst>
      <p:ext uri="{BB962C8B-B14F-4D97-AF65-F5344CB8AC3E}">
        <p14:creationId xmlns:p14="http://schemas.microsoft.com/office/powerpoint/2010/main" val="194810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Matrix Derivative</a:t>
            </a:r>
            <a:endParaRPr dirty="0">
              <a:solidFill>
                <a:srgbClr val="FFFFFF"/>
              </a:solidFill>
              <a:latin typeface="Montserrat"/>
              <a:ea typeface="Montserrat"/>
              <a:cs typeface="Montserrat"/>
              <a:sym typeface="Montserrat"/>
            </a:endParaRPr>
          </a:p>
        </p:txBody>
      </p:sp>
      <p:pic>
        <p:nvPicPr>
          <p:cNvPr id="19" name="Picture 18" descr="A math equations and numbers&#10;&#10;Description automatically generated with medium confidence">
            <a:extLst>
              <a:ext uri="{FF2B5EF4-FFF2-40B4-BE49-F238E27FC236}">
                <a16:creationId xmlns:a16="http://schemas.microsoft.com/office/drawing/2014/main" id="{84FE0F15-5625-4247-4005-A601C8F5378A}"/>
              </a:ext>
            </a:extLst>
          </p:cNvPr>
          <p:cNvPicPr>
            <a:picLocks noChangeAspect="1"/>
          </p:cNvPicPr>
          <p:nvPr/>
        </p:nvPicPr>
        <p:blipFill>
          <a:blip r:embed="rId3"/>
          <a:stretch>
            <a:fillRect/>
          </a:stretch>
        </p:blipFill>
        <p:spPr>
          <a:xfrm>
            <a:off x="3359888" y="1867884"/>
            <a:ext cx="2743200" cy="1295400"/>
          </a:xfrm>
          <a:prstGeom prst="rect">
            <a:avLst/>
          </a:prstGeom>
        </p:spPr>
      </p:pic>
      <p:pic>
        <p:nvPicPr>
          <p:cNvPr id="21" name="Picture 20">
            <a:extLst>
              <a:ext uri="{FF2B5EF4-FFF2-40B4-BE49-F238E27FC236}">
                <a16:creationId xmlns:a16="http://schemas.microsoft.com/office/drawing/2014/main" id="{5AE259FB-C332-765C-9E09-6F0AEB7D6152}"/>
              </a:ext>
            </a:extLst>
          </p:cNvPr>
          <p:cNvPicPr>
            <a:picLocks noChangeAspect="1"/>
          </p:cNvPicPr>
          <p:nvPr/>
        </p:nvPicPr>
        <p:blipFill>
          <a:blip r:embed="rId4"/>
          <a:stretch>
            <a:fillRect/>
          </a:stretch>
        </p:blipFill>
        <p:spPr>
          <a:xfrm>
            <a:off x="469900" y="1432740"/>
            <a:ext cx="5461000" cy="368300"/>
          </a:xfrm>
          <a:prstGeom prst="rect">
            <a:avLst/>
          </a:prstGeom>
        </p:spPr>
      </p:pic>
      <p:pic>
        <p:nvPicPr>
          <p:cNvPr id="23" name="Picture 22">
            <a:extLst>
              <a:ext uri="{FF2B5EF4-FFF2-40B4-BE49-F238E27FC236}">
                <a16:creationId xmlns:a16="http://schemas.microsoft.com/office/drawing/2014/main" id="{AA61602F-D5FC-34A5-1A3E-724F52F6BD13}"/>
              </a:ext>
            </a:extLst>
          </p:cNvPr>
          <p:cNvPicPr>
            <a:picLocks noChangeAspect="1"/>
          </p:cNvPicPr>
          <p:nvPr/>
        </p:nvPicPr>
        <p:blipFill>
          <a:blip r:embed="rId5"/>
          <a:stretch>
            <a:fillRect/>
          </a:stretch>
        </p:blipFill>
        <p:spPr>
          <a:xfrm>
            <a:off x="469900" y="3238944"/>
            <a:ext cx="7772400" cy="595926"/>
          </a:xfrm>
          <a:prstGeom prst="rect">
            <a:avLst/>
          </a:prstGeom>
        </p:spPr>
      </p:pic>
      <p:pic>
        <p:nvPicPr>
          <p:cNvPr id="25" name="Picture 24">
            <a:extLst>
              <a:ext uri="{FF2B5EF4-FFF2-40B4-BE49-F238E27FC236}">
                <a16:creationId xmlns:a16="http://schemas.microsoft.com/office/drawing/2014/main" id="{14EB5E83-AC28-E358-4869-2CADB47DE35C}"/>
              </a:ext>
            </a:extLst>
          </p:cNvPr>
          <p:cNvPicPr>
            <a:picLocks noChangeAspect="1"/>
          </p:cNvPicPr>
          <p:nvPr/>
        </p:nvPicPr>
        <p:blipFill>
          <a:blip r:embed="rId6"/>
          <a:stretch>
            <a:fillRect/>
          </a:stretch>
        </p:blipFill>
        <p:spPr>
          <a:xfrm>
            <a:off x="469900" y="908696"/>
            <a:ext cx="5245100" cy="457200"/>
          </a:xfrm>
          <a:prstGeom prst="rect">
            <a:avLst/>
          </a:prstGeom>
        </p:spPr>
      </p:pic>
    </p:spTree>
    <p:extLst>
      <p:ext uri="{BB962C8B-B14F-4D97-AF65-F5344CB8AC3E}">
        <p14:creationId xmlns:p14="http://schemas.microsoft.com/office/powerpoint/2010/main" val="790398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Matrix Derivative</a:t>
            </a:r>
            <a:endParaRPr dirty="0">
              <a:solidFill>
                <a:srgbClr val="FFFFFF"/>
              </a:solidFill>
              <a:latin typeface="Montserrat"/>
              <a:ea typeface="Montserrat"/>
              <a:cs typeface="Montserrat"/>
              <a:sym typeface="Montserrat"/>
            </a:endParaRPr>
          </a:p>
        </p:txBody>
      </p:sp>
      <p:pic>
        <p:nvPicPr>
          <p:cNvPr id="19" name="Picture 18" descr="A math equations and numbers&#10;&#10;Description automatically generated with medium confidence">
            <a:extLst>
              <a:ext uri="{FF2B5EF4-FFF2-40B4-BE49-F238E27FC236}">
                <a16:creationId xmlns:a16="http://schemas.microsoft.com/office/drawing/2014/main" id="{84FE0F15-5625-4247-4005-A601C8F5378A}"/>
              </a:ext>
            </a:extLst>
          </p:cNvPr>
          <p:cNvPicPr>
            <a:picLocks noChangeAspect="1"/>
          </p:cNvPicPr>
          <p:nvPr/>
        </p:nvPicPr>
        <p:blipFill>
          <a:blip r:embed="rId3"/>
          <a:stretch>
            <a:fillRect/>
          </a:stretch>
        </p:blipFill>
        <p:spPr>
          <a:xfrm>
            <a:off x="3359888" y="1867884"/>
            <a:ext cx="2743200" cy="1295400"/>
          </a:xfrm>
          <a:prstGeom prst="rect">
            <a:avLst/>
          </a:prstGeom>
        </p:spPr>
      </p:pic>
      <p:pic>
        <p:nvPicPr>
          <p:cNvPr id="21" name="Picture 20">
            <a:extLst>
              <a:ext uri="{FF2B5EF4-FFF2-40B4-BE49-F238E27FC236}">
                <a16:creationId xmlns:a16="http://schemas.microsoft.com/office/drawing/2014/main" id="{5AE259FB-C332-765C-9E09-6F0AEB7D6152}"/>
              </a:ext>
            </a:extLst>
          </p:cNvPr>
          <p:cNvPicPr>
            <a:picLocks noChangeAspect="1"/>
          </p:cNvPicPr>
          <p:nvPr/>
        </p:nvPicPr>
        <p:blipFill>
          <a:blip r:embed="rId4"/>
          <a:stretch>
            <a:fillRect/>
          </a:stretch>
        </p:blipFill>
        <p:spPr>
          <a:xfrm>
            <a:off x="469900" y="1432740"/>
            <a:ext cx="5461000" cy="368300"/>
          </a:xfrm>
          <a:prstGeom prst="rect">
            <a:avLst/>
          </a:prstGeom>
        </p:spPr>
      </p:pic>
      <p:pic>
        <p:nvPicPr>
          <p:cNvPr id="23" name="Picture 22">
            <a:extLst>
              <a:ext uri="{FF2B5EF4-FFF2-40B4-BE49-F238E27FC236}">
                <a16:creationId xmlns:a16="http://schemas.microsoft.com/office/drawing/2014/main" id="{AA61602F-D5FC-34A5-1A3E-724F52F6BD13}"/>
              </a:ext>
            </a:extLst>
          </p:cNvPr>
          <p:cNvPicPr>
            <a:picLocks noChangeAspect="1"/>
          </p:cNvPicPr>
          <p:nvPr/>
        </p:nvPicPr>
        <p:blipFill>
          <a:blip r:embed="rId5"/>
          <a:stretch>
            <a:fillRect/>
          </a:stretch>
        </p:blipFill>
        <p:spPr>
          <a:xfrm>
            <a:off x="469900" y="3238944"/>
            <a:ext cx="7772400" cy="595926"/>
          </a:xfrm>
          <a:prstGeom prst="rect">
            <a:avLst/>
          </a:prstGeom>
        </p:spPr>
      </p:pic>
      <p:pic>
        <p:nvPicPr>
          <p:cNvPr id="25" name="Picture 24">
            <a:extLst>
              <a:ext uri="{FF2B5EF4-FFF2-40B4-BE49-F238E27FC236}">
                <a16:creationId xmlns:a16="http://schemas.microsoft.com/office/drawing/2014/main" id="{14EB5E83-AC28-E358-4869-2CADB47DE35C}"/>
              </a:ext>
            </a:extLst>
          </p:cNvPr>
          <p:cNvPicPr>
            <a:picLocks noChangeAspect="1"/>
          </p:cNvPicPr>
          <p:nvPr/>
        </p:nvPicPr>
        <p:blipFill>
          <a:blip r:embed="rId6"/>
          <a:stretch>
            <a:fillRect/>
          </a:stretch>
        </p:blipFill>
        <p:spPr>
          <a:xfrm>
            <a:off x="469900" y="908696"/>
            <a:ext cx="5245100" cy="457200"/>
          </a:xfrm>
          <a:prstGeom prst="rect">
            <a:avLst/>
          </a:prstGeom>
        </p:spPr>
      </p:pic>
      <p:pic>
        <p:nvPicPr>
          <p:cNvPr id="27" name="Picture 26" descr="A mathematical equation with numbers&#10;&#10;Description automatically generated">
            <a:extLst>
              <a:ext uri="{FF2B5EF4-FFF2-40B4-BE49-F238E27FC236}">
                <a16:creationId xmlns:a16="http://schemas.microsoft.com/office/drawing/2014/main" id="{0E285148-AB77-39BB-DC85-B71D8DC79FF9}"/>
              </a:ext>
            </a:extLst>
          </p:cNvPr>
          <p:cNvPicPr>
            <a:picLocks noChangeAspect="1"/>
          </p:cNvPicPr>
          <p:nvPr/>
        </p:nvPicPr>
        <p:blipFill>
          <a:blip r:embed="rId7"/>
          <a:stretch>
            <a:fillRect/>
          </a:stretch>
        </p:blipFill>
        <p:spPr>
          <a:xfrm>
            <a:off x="3855188" y="3930110"/>
            <a:ext cx="2247900" cy="698500"/>
          </a:xfrm>
          <a:prstGeom prst="rect">
            <a:avLst/>
          </a:prstGeom>
        </p:spPr>
      </p:pic>
    </p:spTree>
    <p:extLst>
      <p:ext uri="{BB962C8B-B14F-4D97-AF65-F5344CB8AC3E}">
        <p14:creationId xmlns:p14="http://schemas.microsoft.com/office/powerpoint/2010/main" val="4015659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Normal Equation</a:t>
            </a:r>
            <a:endParaRPr dirty="0">
              <a:solidFill>
                <a:srgbClr val="FFFFFF"/>
              </a:solidFill>
              <a:latin typeface="Montserrat"/>
              <a:ea typeface="Montserrat"/>
              <a:cs typeface="Montserrat"/>
              <a:sym typeface="Montserrat"/>
            </a:endParaRPr>
          </a:p>
        </p:txBody>
      </p:sp>
      <p:pic>
        <p:nvPicPr>
          <p:cNvPr id="8" name="Picture 7" descr="A rectangular object with black text&#10;&#10;Description automatically generated">
            <a:extLst>
              <a:ext uri="{FF2B5EF4-FFF2-40B4-BE49-F238E27FC236}">
                <a16:creationId xmlns:a16="http://schemas.microsoft.com/office/drawing/2014/main" id="{6042E0C9-70F3-CE12-1E0C-45B6EEEA521E}"/>
              </a:ext>
            </a:extLst>
          </p:cNvPr>
          <p:cNvPicPr>
            <a:picLocks noChangeAspect="1"/>
          </p:cNvPicPr>
          <p:nvPr/>
        </p:nvPicPr>
        <p:blipFill>
          <a:blip r:embed="rId3"/>
          <a:stretch>
            <a:fillRect/>
          </a:stretch>
        </p:blipFill>
        <p:spPr>
          <a:xfrm>
            <a:off x="2744234" y="920898"/>
            <a:ext cx="1358900" cy="1397000"/>
          </a:xfrm>
          <a:prstGeom prst="rect">
            <a:avLst/>
          </a:prstGeom>
        </p:spPr>
      </p:pic>
      <p:pic>
        <p:nvPicPr>
          <p:cNvPr id="10" name="Picture 9" descr="A rectangular object with black letters and numbers&#10;&#10;Description automatically generated">
            <a:extLst>
              <a:ext uri="{FF2B5EF4-FFF2-40B4-BE49-F238E27FC236}">
                <a16:creationId xmlns:a16="http://schemas.microsoft.com/office/drawing/2014/main" id="{A828AB45-64CA-6A5D-1B18-36A38971FC62}"/>
              </a:ext>
            </a:extLst>
          </p:cNvPr>
          <p:cNvPicPr>
            <a:picLocks noChangeAspect="1"/>
          </p:cNvPicPr>
          <p:nvPr/>
        </p:nvPicPr>
        <p:blipFill>
          <a:blip r:embed="rId4"/>
          <a:stretch>
            <a:fillRect/>
          </a:stretch>
        </p:blipFill>
        <p:spPr>
          <a:xfrm>
            <a:off x="4922874" y="920898"/>
            <a:ext cx="1079500" cy="1397000"/>
          </a:xfrm>
          <a:prstGeom prst="rect">
            <a:avLst/>
          </a:prstGeom>
        </p:spPr>
      </p:pic>
      <p:pic>
        <p:nvPicPr>
          <p:cNvPr id="12" name="Picture 11" descr="A math equations with numbers and symbols&#10;&#10;Description automatically generated with medium confidence">
            <a:extLst>
              <a:ext uri="{FF2B5EF4-FFF2-40B4-BE49-F238E27FC236}">
                <a16:creationId xmlns:a16="http://schemas.microsoft.com/office/drawing/2014/main" id="{E70E7CE2-ABAB-635F-AAF2-36869FEC056F}"/>
              </a:ext>
            </a:extLst>
          </p:cNvPr>
          <p:cNvPicPr>
            <a:picLocks noChangeAspect="1"/>
          </p:cNvPicPr>
          <p:nvPr/>
        </p:nvPicPr>
        <p:blipFill>
          <a:blip r:embed="rId5"/>
          <a:stretch>
            <a:fillRect/>
          </a:stretch>
        </p:blipFill>
        <p:spPr>
          <a:xfrm>
            <a:off x="4379579" y="2894852"/>
            <a:ext cx="2603500" cy="2159000"/>
          </a:xfrm>
          <a:prstGeom prst="rect">
            <a:avLst/>
          </a:prstGeom>
        </p:spPr>
      </p:pic>
      <p:pic>
        <p:nvPicPr>
          <p:cNvPr id="14" name="Picture 13" descr="A black and white image of a equal sign&#10;&#10;Description automatically generated">
            <a:extLst>
              <a:ext uri="{FF2B5EF4-FFF2-40B4-BE49-F238E27FC236}">
                <a16:creationId xmlns:a16="http://schemas.microsoft.com/office/drawing/2014/main" id="{965F491A-D404-0A12-77B4-B4BE54541685}"/>
              </a:ext>
            </a:extLst>
          </p:cNvPr>
          <p:cNvPicPr>
            <a:picLocks noChangeAspect="1"/>
          </p:cNvPicPr>
          <p:nvPr/>
        </p:nvPicPr>
        <p:blipFill>
          <a:blip r:embed="rId6"/>
          <a:stretch>
            <a:fillRect/>
          </a:stretch>
        </p:blipFill>
        <p:spPr>
          <a:xfrm>
            <a:off x="799067" y="3394837"/>
            <a:ext cx="1498600" cy="330200"/>
          </a:xfrm>
          <a:prstGeom prst="rect">
            <a:avLst/>
          </a:prstGeom>
        </p:spPr>
      </p:pic>
      <p:sp>
        <p:nvSpPr>
          <p:cNvPr id="15" name="TextBox 14">
            <a:extLst>
              <a:ext uri="{FF2B5EF4-FFF2-40B4-BE49-F238E27FC236}">
                <a16:creationId xmlns:a16="http://schemas.microsoft.com/office/drawing/2014/main" id="{A75C1ACE-07BC-A937-2293-B092D5716D1A}"/>
              </a:ext>
            </a:extLst>
          </p:cNvPr>
          <p:cNvSpPr txBox="1"/>
          <p:nvPr/>
        </p:nvSpPr>
        <p:spPr>
          <a:xfrm>
            <a:off x="395083" y="1393879"/>
            <a:ext cx="2527193" cy="769441"/>
          </a:xfrm>
          <a:prstGeom prst="rect">
            <a:avLst/>
          </a:prstGeom>
          <a:noFill/>
        </p:spPr>
        <p:txBody>
          <a:bodyPr wrap="square" rtlCol="0">
            <a:spAutoFit/>
          </a:bodyPr>
          <a:lstStyle/>
          <a:p>
            <a:r>
              <a:rPr lang="en-US" sz="1600" dirty="0"/>
              <a:t>Design matrix </a:t>
            </a:r>
            <a:r>
              <a:rPr lang="en-US" sz="1600" dirty="0" err="1"/>
              <a:t>nx</a:t>
            </a:r>
            <a:r>
              <a:rPr lang="en-US" sz="1600" dirty="0"/>
              <a:t>(d+1)</a:t>
            </a:r>
          </a:p>
          <a:p>
            <a:endParaRPr lang="en-US" dirty="0"/>
          </a:p>
          <a:p>
            <a:endParaRPr lang="en-US" dirty="0"/>
          </a:p>
        </p:txBody>
      </p:sp>
      <p:sp>
        <p:nvSpPr>
          <p:cNvPr id="16" name="TextBox 15">
            <a:extLst>
              <a:ext uri="{FF2B5EF4-FFF2-40B4-BE49-F238E27FC236}">
                <a16:creationId xmlns:a16="http://schemas.microsoft.com/office/drawing/2014/main" id="{CF5E5179-4CBE-C6AE-D3CA-A6F77DA371B9}"/>
              </a:ext>
            </a:extLst>
          </p:cNvPr>
          <p:cNvSpPr txBox="1"/>
          <p:nvPr/>
        </p:nvSpPr>
        <p:spPr>
          <a:xfrm>
            <a:off x="708716" y="2955596"/>
            <a:ext cx="2083337" cy="338554"/>
          </a:xfrm>
          <a:prstGeom prst="rect">
            <a:avLst/>
          </a:prstGeom>
          <a:noFill/>
        </p:spPr>
        <p:txBody>
          <a:bodyPr wrap="square" rtlCol="0">
            <a:spAutoFit/>
          </a:bodyPr>
          <a:lstStyle/>
          <a:p>
            <a:r>
              <a:rPr lang="en-US" sz="1600" dirty="0"/>
              <a:t>Fitting function:</a:t>
            </a:r>
            <a:endParaRPr lang="en-US" dirty="0"/>
          </a:p>
        </p:txBody>
      </p:sp>
      <p:sp>
        <p:nvSpPr>
          <p:cNvPr id="17" name="TextBox 16">
            <a:extLst>
              <a:ext uri="{FF2B5EF4-FFF2-40B4-BE49-F238E27FC236}">
                <a16:creationId xmlns:a16="http://schemas.microsoft.com/office/drawing/2014/main" id="{F6855E63-0A28-5E53-EE5D-AC09884C647F}"/>
              </a:ext>
            </a:extLst>
          </p:cNvPr>
          <p:cNvSpPr txBox="1"/>
          <p:nvPr/>
        </p:nvSpPr>
        <p:spPr>
          <a:xfrm>
            <a:off x="3668752" y="2955596"/>
            <a:ext cx="1587985" cy="338554"/>
          </a:xfrm>
          <a:prstGeom prst="rect">
            <a:avLst/>
          </a:prstGeom>
          <a:noFill/>
        </p:spPr>
        <p:txBody>
          <a:bodyPr wrap="square" rtlCol="0">
            <a:spAutoFit/>
          </a:bodyPr>
          <a:lstStyle/>
          <a:p>
            <a:r>
              <a:rPr lang="en-US" sz="1600" dirty="0"/>
              <a:t>Loss :</a:t>
            </a:r>
            <a:endParaRPr lang="en-US" dirty="0"/>
          </a:p>
        </p:txBody>
      </p:sp>
    </p:spTree>
    <p:extLst>
      <p:ext uri="{BB962C8B-B14F-4D97-AF65-F5344CB8AC3E}">
        <p14:creationId xmlns:p14="http://schemas.microsoft.com/office/powerpoint/2010/main" val="1252146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Normal Equation</a:t>
            </a:r>
            <a:endParaRPr dirty="0">
              <a:solidFill>
                <a:srgbClr val="FFFFFF"/>
              </a:solidFill>
              <a:latin typeface="Montserrat"/>
              <a:ea typeface="Montserrat"/>
              <a:cs typeface="Montserrat"/>
              <a:sym typeface="Montserrat"/>
            </a:endParaRPr>
          </a:p>
        </p:txBody>
      </p:sp>
      <p:pic>
        <p:nvPicPr>
          <p:cNvPr id="3" name="Picture 2" descr="A black text on a white background&#10;&#10;Description automatically generated">
            <a:extLst>
              <a:ext uri="{FF2B5EF4-FFF2-40B4-BE49-F238E27FC236}">
                <a16:creationId xmlns:a16="http://schemas.microsoft.com/office/drawing/2014/main" id="{F022C8D0-1AAB-8ED6-FED4-C39E260BB53A}"/>
              </a:ext>
            </a:extLst>
          </p:cNvPr>
          <p:cNvPicPr>
            <a:picLocks noChangeAspect="1"/>
          </p:cNvPicPr>
          <p:nvPr/>
        </p:nvPicPr>
        <p:blipFill>
          <a:blip r:embed="rId3"/>
          <a:stretch>
            <a:fillRect/>
          </a:stretch>
        </p:blipFill>
        <p:spPr>
          <a:xfrm>
            <a:off x="311700" y="803617"/>
            <a:ext cx="4422516" cy="572700"/>
          </a:xfrm>
          <a:prstGeom prst="rect">
            <a:avLst/>
          </a:prstGeom>
        </p:spPr>
      </p:pic>
      <p:pic>
        <p:nvPicPr>
          <p:cNvPr id="5" name="Picture 4" descr="A black and white math equation&#10;&#10;Description automatically generated">
            <a:extLst>
              <a:ext uri="{FF2B5EF4-FFF2-40B4-BE49-F238E27FC236}">
                <a16:creationId xmlns:a16="http://schemas.microsoft.com/office/drawing/2014/main" id="{84A08A0D-886C-390B-6C90-44E544CB55FD}"/>
              </a:ext>
            </a:extLst>
          </p:cNvPr>
          <p:cNvPicPr>
            <a:picLocks noChangeAspect="1"/>
          </p:cNvPicPr>
          <p:nvPr/>
        </p:nvPicPr>
        <p:blipFill>
          <a:blip r:embed="rId4"/>
          <a:stretch>
            <a:fillRect/>
          </a:stretch>
        </p:blipFill>
        <p:spPr>
          <a:xfrm>
            <a:off x="2088707" y="1363407"/>
            <a:ext cx="5240323" cy="710789"/>
          </a:xfrm>
          <a:prstGeom prst="rect">
            <a:avLst/>
          </a:prstGeom>
        </p:spPr>
      </p:pic>
      <p:pic>
        <p:nvPicPr>
          <p:cNvPr id="7" name="Picture 6" descr="A math equations on a white background&#10;&#10;Description automatically generated">
            <a:extLst>
              <a:ext uri="{FF2B5EF4-FFF2-40B4-BE49-F238E27FC236}">
                <a16:creationId xmlns:a16="http://schemas.microsoft.com/office/drawing/2014/main" id="{063F08BA-9CEE-9A2C-56B9-A8B58E0B6674}"/>
              </a:ext>
            </a:extLst>
          </p:cNvPr>
          <p:cNvPicPr>
            <a:picLocks noChangeAspect="1"/>
          </p:cNvPicPr>
          <p:nvPr/>
        </p:nvPicPr>
        <p:blipFill>
          <a:blip r:embed="rId5"/>
          <a:stretch>
            <a:fillRect/>
          </a:stretch>
        </p:blipFill>
        <p:spPr>
          <a:xfrm>
            <a:off x="2088707" y="2065363"/>
            <a:ext cx="4891671" cy="2994624"/>
          </a:xfrm>
          <a:prstGeom prst="rect">
            <a:avLst/>
          </a:prstGeom>
        </p:spPr>
      </p:pic>
      <p:sp>
        <p:nvSpPr>
          <p:cNvPr id="9" name="TextBox 8">
            <a:extLst>
              <a:ext uri="{FF2B5EF4-FFF2-40B4-BE49-F238E27FC236}">
                <a16:creationId xmlns:a16="http://schemas.microsoft.com/office/drawing/2014/main" id="{46185C17-7DAC-EE4C-E38F-7C12296FAB9D}"/>
              </a:ext>
            </a:extLst>
          </p:cNvPr>
          <p:cNvSpPr txBox="1"/>
          <p:nvPr/>
        </p:nvSpPr>
        <p:spPr>
          <a:xfrm>
            <a:off x="472751" y="1549524"/>
            <a:ext cx="1454906" cy="338554"/>
          </a:xfrm>
          <a:prstGeom prst="rect">
            <a:avLst/>
          </a:prstGeom>
          <a:noFill/>
        </p:spPr>
        <p:txBody>
          <a:bodyPr wrap="square" rtlCol="0">
            <a:spAutoFit/>
          </a:bodyPr>
          <a:lstStyle/>
          <a:p>
            <a:r>
              <a:rPr lang="en-US" sz="1600" dirty="0"/>
              <a:t>Loss function:</a:t>
            </a:r>
            <a:endParaRPr lang="en-US" dirty="0"/>
          </a:p>
        </p:txBody>
      </p:sp>
      <p:sp>
        <p:nvSpPr>
          <p:cNvPr id="11" name="TextBox 10">
            <a:extLst>
              <a:ext uri="{FF2B5EF4-FFF2-40B4-BE49-F238E27FC236}">
                <a16:creationId xmlns:a16="http://schemas.microsoft.com/office/drawing/2014/main" id="{0204CE32-0D8C-9DED-8B0B-BFE1BA535EDB}"/>
              </a:ext>
            </a:extLst>
          </p:cNvPr>
          <p:cNvSpPr txBox="1"/>
          <p:nvPr/>
        </p:nvSpPr>
        <p:spPr>
          <a:xfrm>
            <a:off x="472751" y="2091788"/>
            <a:ext cx="1454906" cy="338554"/>
          </a:xfrm>
          <a:prstGeom prst="rect">
            <a:avLst/>
          </a:prstGeom>
          <a:noFill/>
        </p:spPr>
        <p:txBody>
          <a:bodyPr wrap="square" rtlCol="0">
            <a:spAutoFit/>
          </a:bodyPr>
          <a:lstStyle/>
          <a:p>
            <a:r>
              <a:rPr lang="en-US" sz="1600" dirty="0"/>
              <a:t>Gradient:</a:t>
            </a:r>
            <a:endParaRPr lang="en-US" dirty="0"/>
          </a:p>
        </p:txBody>
      </p:sp>
    </p:spTree>
    <p:extLst>
      <p:ext uri="{BB962C8B-B14F-4D97-AF65-F5344CB8AC3E}">
        <p14:creationId xmlns:p14="http://schemas.microsoft.com/office/powerpoint/2010/main" val="2678969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187924"/>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rgbClr val="FFFFFF"/>
                </a:solidFill>
                <a:latin typeface="Montserrat"/>
                <a:ea typeface="Montserrat"/>
                <a:cs typeface="Montserrat"/>
                <a:sym typeface="Montserrat"/>
              </a:rPr>
              <a:t>Normal Equation</a:t>
            </a:r>
            <a:endParaRPr dirty="0">
              <a:solidFill>
                <a:srgbClr val="FFFFFF"/>
              </a:solidFill>
              <a:latin typeface="Montserrat"/>
              <a:ea typeface="Montserrat"/>
              <a:cs typeface="Montserrat"/>
              <a:sym typeface="Montserrat"/>
            </a:endParaRPr>
          </a:p>
        </p:txBody>
      </p:sp>
      <p:pic>
        <p:nvPicPr>
          <p:cNvPr id="2" name="Picture 1" descr="A math equations on a white background&#10;&#10;Description automatically generated">
            <a:extLst>
              <a:ext uri="{FF2B5EF4-FFF2-40B4-BE49-F238E27FC236}">
                <a16:creationId xmlns:a16="http://schemas.microsoft.com/office/drawing/2014/main" id="{00CBEE18-C505-A9E2-E7BF-8C9EF56155C7}"/>
              </a:ext>
            </a:extLst>
          </p:cNvPr>
          <p:cNvPicPr>
            <a:picLocks noChangeAspect="1"/>
          </p:cNvPicPr>
          <p:nvPr/>
        </p:nvPicPr>
        <p:blipFill>
          <a:blip r:embed="rId3"/>
          <a:stretch>
            <a:fillRect/>
          </a:stretch>
        </p:blipFill>
        <p:spPr>
          <a:xfrm>
            <a:off x="2439584" y="749991"/>
            <a:ext cx="3620975" cy="2216718"/>
          </a:xfrm>
          <a:prstGeom prst="rect">
            <a:avLst/>
          </a:prstGeom>
        </p:spPr>
      </p:pic>
      <p:pic>
        <p:nvPicPr>
          <p:cNvPr id="6" name="Picture 5" descr="A math equations on a white background&#10;&#10;Description automatically generated">
            <a:extLst>
              <a:ext uri="{FF2B5EF4-FFF2-40B4-BE49-F238E27FC236}">
                <a16:creationId xmlns:a16="http://schemas.microsoft.com/office/drawing/2014/main" id="{1CF45838-5E7C-EAF5-59EF-94300F7A0BC0}"/>
              </a:ext>
            </a:extLst>
          </p:cNvPr>
          <p:cNvPicPr>
            <a:picLocks noChangeAspect="1"/>
          </p:cNvPicPr>
          <p:nvPr/>
        </p:nvPicPr>
        <p:blipFill>
          <a:blip r:embed="rId4"/>
          <a:stretch>
            <a:fillRect/>
          </a:stretch>
        </p:blipFill>
        <p:spPr>
          <a:xfrm>
            <a:off x="702635" y="2966709"/>
            <a:ext cx="7112295" cy="2206455"/>
          </a:xfrm>
          <a:prstGeom prst="rect">
            <a:avLst/>
          </a:prstGeom>
        </p:spPr>
      </p:pic>
    </p:spTree>
    <p:extLst>
      <p:ext uri="{BB962C8B-B14F-4D97-AF65-F5344CB8AC3E}">
        <p14:creationId xmlns:p14="http://schemas.microsoft.com/office/powerpoint/2010/main" val="144011900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8054</TotalTime>
  <Words>1855</Words>
  <Application>Microsoft Macintosh PowerPoint</Application>
  <PresentationFormat>On-screen Show (16:9)</PresentationFormat>
  <Paragraphs>112</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Proxima Nova</vt:lpstr>
      <vt:lpstr>Montserrat</vt:lpstr>
      <vt:lpstr>Arial</vt:lpstr>
      <vt:lpstr>Simple Light</vt:lpstr>
      <vt:lpstr>PowerPoint Presentation</vt:lpstr>
      <vt:lpstr>Regression</vt:lpstr>
      <vt:lpstr>Regression</vt:lpstr>
      <vt:lpstr>Regression</vt:lpstr>
      <vt:lpstr>Regression</vt:lpstr>
      <vt:lpstr>Minimizing a function</vt:lpstr>
      <vt:lpstr>Minimizing a function</vt:lpstr>
      <vt:lpstr>Nonlinear function example</vt:lpstr>
      <vt:lpstr>Nonlinear function example</vt:lpstr>
      <vt:lpstr>Nonlinear function example</vt:lpstr>
      <vt:lpstr>Gradient Descent</vt:lpstr>
      <vt:lpstr>Gradient Descent</vt:lpstr>
      <vt:lpstr>Gradient Descent</vt:lpstr>
      <vt:lpstr>Gradient Descent</vt:lpstr>
      <vt:lpstr>Batch Gradient Descent</vt:lpstr>
      <vt:lpstr>Stochastic Gradient Descent</vt:lpstr>
      <vt:lpstr>Stochastic Gradient Descent</vt:lpstr>
      <vt:lpstr>Stochastic Gradient Descent</vt:lpstr>
      <vt:lpstr>Matrix Derivative</vt:lpstr>
      <vt:lpstr>Matrix Derivative</vt:lpstr>
      <vt:lpstr>Normal Equation</vt:lpstr>
      <vt:lpstr>Normal Equation</vt:lpstr>
      <vt:lpstr>Normal Equation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Rio</dc:creator>
  <cp:lastModifiedBy>Xie, Xuping</cp:lastModifiedBy>
  <cp:revision>50</cp:revision>
  <dcterms:modified xsi:type="dcterms:W3CDTF">2025-09-18T20:48:58Z</dcterms:modified>
</cp:coreProperties>
</file>