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78" r:id="rId3"/>
    <p:sldId id="285" r:id="rId4"/>
    <p:sldId id="286" r:id="rId5"/>
    <p:sldId id="287" r:id="rId6"/>
    <p:sldId id="25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8" r:id="rId25"/>
    <p:sldId id="289" r:id="rId26"/>
    <p:sldId id="290" r:id="rId27"/>
    <p:sldId id="291" r:id="rId28"/>
    <p:sldId id="29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E9D6EB-7059-4741-9745-E69226E1CB75}">
          <p14:sldIdLst>
            <p14:sldId id="256"/>
            <p14:sldId id="278"/>
            <p14:sldId id="285"/>
            <p14:sldId id="286"/>
            <p14:sldId id="287"/>
            <p14:sldId id="257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88"/>
            <p14:sldId id="289"/>
            <p14:sldId id="290"/>
            <p14:sldId id="291"/>
            <p14:sldId id="292"/>
          </p14:sldIdLst>
        </p14:section>
        <p14:section name="Untitled Section" id="{36A6DFD3-BD46-E649-B29E-3CD528BEF20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7521" autoAdjust="0"/>
  </p:normalViewPr>
  <p:slideViewPr>
    <p:cSldViewPr snapToGrid="0" snapToObjects="1">
      <p:cViewPr varScale="1">
        <p:scale>
          <a:sx n="140" d="100"/>
          <a:sy n="140" d="100"/>
        </p:scale>
        <p:origin x="624" y="200"/>
      </p:cViewPr>
      <p:guideLst/>
    </p:cSldViewPr>
  </p:slideViewPr>
  <p:outlineViewPr>
    <p:cViewPr>
      <p:scale>
        <a:sx n="33" d="100"/>
        <a:sy n="33" d="100"/>
      </p:scale>
      <p:origin x="0" y="-267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10564-5A80-1443-B620-B2FA89B774E7}" type="datetimeFigureOut">
              <a:rPr lang="en-US" smtClean="0"/>
              <a:t>8/19/26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88D4BB-8939-764F-AB2B-4FDF6E924E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03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F146B-E056-204D-A809-3A6EC8F30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8BEA9-7308-DD44-83BA-AAB2D90D3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rangshandwriting" panose="020005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6588A-F686-964A-BED8-EBDCD97E7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CC05-1D4C-8446-A94A-F34F608A39D5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78F8D-41D5-6C4E-B3B3-CF89201B5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D0CD5-5818-B24E-AC1E-7F356D24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602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0BA0-73E9-354A-855D-70E0A387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52" y="136525"/>
            <a:ext cx="10515600" cy="797753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DED8C-2F2B-404A-94B9-68ECB03B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487"/>
            <a:ext cx="10515600" cy="5113476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21968-DB1D-484C-AAFC-DBB8FC94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B6E-76FB-8F4B-938A-48D0A87A6E19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2E132-BBC4-E348-8859-4C2D1CD8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BF79C-A68C-C046-973D-54E66A32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761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tical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0BA0-73E9-354A-855D-70E0A387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52" y="136525"/>
            <a:ext cx="10515600" cy="797753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DED8C-2F2B-404A-94B9-68ECB03B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488"/>
            <a:ext cx="10528852" cy="1063304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21968-DB1D-484C-AAFC-DBB8FC94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B6E-76FB-8F4B-938A-48D0A87A6E19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2E132-BBC4-E348-8859-4C2D1CD8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BF79C-A68C-C046-973D-54E66A32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C2A277-E80A-EB4F-BBE3-7B132D4C8A1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51452" y="2499933"/>
            <a:ext cx="10528852" cy="1179969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E5C4D25-EEE2-7C6D-14DD-D823F172784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" y="3954822"/>
            <a:ext cx="10528852" cy="1063304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4155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8D55D-CB34-5343-BE61-2FF62A5A2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7453B-73D6-144B-BF4D-73BB39F03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6DAE8-F7C1-F549-81A5-BE6F1DAC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125B1-07A4-444D-A7AA-E51CD7B58969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0FF71-8314-C044-9CB6-EB89B33DB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BB4BA-5807-8D45-831A-85B1F5AE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3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5CCA-4160-D143-8FD0-030E4A65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21"/>
            <a:ext cx="10515600" cy="728178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7826F-8D65-7E45-959D-29A6F19E5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3665"/>
            <a:ext cx="5181600" cy="5063298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46F12-0C84-DD4B-847B-190272AC2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13665"/>
            <a:ext cx="5181600" cy="5063298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3558A-FD1C-5446-B48F-75E3DC0A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5DB-DA5E-F746-9C95-F8AAA5AB9D02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79D84-B3DC-BD48-BF69-3709671CF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4E5ED-9DB3-F940-8195-CCA39B82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65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5CCA-4160-D143-8FD0-030E4A65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21"/>
            <a:ext cx="10515600" cy="728178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7826F-8D65-7E45-959D-29A6F19E5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3666"/>
            <a:ext cx="5066654" cy="2001494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46F12-0C84-DD4B-847B-190272AC2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148" y="1121498"/>
            <a:ext cx="4831597" cy="2001495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3558A-FD1C-5446-B48F-75E3DC0A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5DB-DA5E-F746-9C95-F8AAA5AB9D02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79D84-B3DC-BD48-BF69-3709671CF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4E5ED-9DB3-F940-8195-CCA39B82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AE841B6-B1F0-3642-B83D-C6E1BE281D5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3735008"/>
            <a:ext cx="5066654" cy="2001494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C1B3734-A5B9-A34A-99EC-C334744ACB0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4801" y="3735007"/>
            <a:ext cx="4831597" cy="2001495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873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6744-AD16-284A-A256-67161EECB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2DAE7-F041-1C4A-91CA-4FC9B0667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8F5BC-7E2D-AB40-AC3A-E18F7162C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10563-9B8C-5246-BF8C-DD1D17360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629EBC-175A-9D44-9A78-9B89D5C84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8414A-14B6-6A40-B34C-771557F2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C72F-6C1B-BA40-8853-3E99D89E317E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54650-8268-6E4F-882F-9480400B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ED09E5-C1BD-024B-A638-63A494B0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150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2AF3D-A275-114E-8EF5-4778E6782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C3E6A-6084-184C-B2FA-5D5B4697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5EA2-9357-B146-B940-6B0B033C81A6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B1506-D9F0-AD47-B6B3-5296F8CE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E1886-711F-354E-8AB7-5EDB5BBE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3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3AD73B-3E22-FD4B-950C-5888099BB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A4535-2762-FA49-9E03-A4AD17726A63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2603D4-AFEB-C243-9059-34F14224F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F2A8F-682D-2F42-9288-8061B4A99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77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etical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0BA0-73E9-354A-855D-70E0A387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52" y="136525"/>
            <a:ext cx="10515600" cy="797753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DED8C-2F2B-404A-94B9-68ECB03B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11" y="1063488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21968-DB1D-484C-AAFC-DBB8FC94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B6E-76FB-8F4B-938A-48D0A87A6E19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2E132-BBC4-E348-8859-4C2D1CD8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BF79C-A68C-C046-973D-54E66A32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1370765-7A07-243A-5AF5-D5D2FF0CDC4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5611" y="1959252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32F3DF4-E6A6-838E-B37F-1E65A0FF816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5611" y="2855016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826B14-9418-3F43-7972-7CAAFE2465F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5611" y="3750780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E3D5714-18E9-DBD4-1ABA-D34AB21486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5611" y="4646545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808624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7C2B-D212-C045-924D-876EE1311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A9474-87FC-8E41-B3FD-1767A171C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EF2CB-5899-9544-BD18-3BDCEDED1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34AD2-AB11-1146-BF08-679C18BA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15FF1-25BD-1648-97C9-D95891DAC24C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F692A-CB68-8D4A-8B19-56B371E7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439F3-BF0D-1A44-AB50-CEBB5A34F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43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EA41-A551-7540-869D-738A550F2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F1FB5-D9ED-2843-AC35-E34D1A194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0F6BE-3EC6-F54C-9265-211EA6725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A9695-8281-774D-B450-E3DBDBB7C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F78B-6906-6A4D-A620-A24C4B2721FE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88F05-79FB-DF43-9B9C-60A58C30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F19E0-8C34-FE4A-9362-8AF67F53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23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B015-41C7-E949-9F96-35B92563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38062-5BCB-0D49-8F0B-2268CA0DD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0D7A2-BA76-CC4F-88A4-17EC31156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847B-304B-1541-A023-6FC35800D454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B12CF-42CA-5D42-B918-BED2CFDF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7159-F95E-BD4C-A62A-DC0F96EC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789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964583-AB03-C549-A0EB-5B067B1F2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15522-6399-CC41-AB3D-F3DC83FCE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2ED2D-1F55-CA4E-82F3-C44288F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E199-AA7A-F34F-AC98-BBB8A8426897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DFE15-7278-0B40-9881-E6DC48976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6AB0C-E6D6-7E46-A628-A3E610BC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204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alphaModFix amt="48000"/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FF712-6280-4F48-84F9-E448490E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21984-CD34-3C4B-9085-BCBBB04E7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C2DED-AC91-D84C-90F4-E9BFCB44FB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7B97E-4F01-244D-B00A-40018C48619A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EDD05-DC54-8444-B0CE-605923D37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41B1D-2000-D247-867E-3AA2C028D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2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60" r:id="rId6"/>
    <p:sldLayoutId id="2147483653" r:id="rId7"/>
    <p:sldLayoutId id="2147483654" r:id="rId8"/>
    <p:sldLayoutId id="2147483655" r:id="rId9"/>
    <p:sldLayoutId id="2147483662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rangshandwriting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183D0-CE17-7843-B2DE-DCD30C563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BDA 411/511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Introduction to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E0693-C14A-C640-8078-86B6C97CE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2026 Fall</a:t>
            </a:r>
          </a:p>
          <a:p>
            <a:pPr algn="l"/>
            <a:r>
              <a:rPr lang="en-US" altLang="zh-CN" dirty="0"/>
              <a:t>Dr. Xuping Xie</a:t>
            </a:r>
          </a:p>
          <a:p>
            <a:pPr algn="l"/>
            <a:r>
              <a:rPr lang="en-US" dirty="0"/>
              <a:t>Department of Math &amp; Stat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CE763-781E-4243-8E5E-531CD929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900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F98557-BE14-793E-46AC-1BE5F6C5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  <a:latin typeface="+mj-lt"/>
              </a:rPr>
              <a:t>Basic Notation</a:t>
            </a:r>
            <a:endParaRPr lang="en-US" sz="40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12" name="Picture 11" descr="A close up of text&#10;&#10;Description automatically generated">
            <a:extLst>
              <a:ext uri="{FF2B5EF4-FFF2-40B4-BE49-F238E27FC236}">
                <a16:creationId xmlns:a16="http://schemas.microsoft.com/office/drawing/2014/main" id="{B2A85809-BBD6-3428-1F2C-E7452912C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50993"/>
            <a:ext cx="6056376" cy="1695785"/>
          </a:xfrm>
          <a:prstGeom prst="rect">
            <a:avLst/>
          </a:prstGeom>
        </p:spPr>
      </p:pic>
      <p:pic>
        <p:nvPicPr>
          <p:cNvPr id="10" name="Picture 9" descr="A white paper with black text and numbers&#10;&#10;Description automatically generated">
            <a:extLst>
              <a:ext uri="{FF2B5EF4-FFF2-40B4-BE49-F238E27FC236}">
                <a16:creationId xmlns:a16="http://schemas.microsoft.com/office/drawing/2014/main" id="{D79624C1-49FF-9EF1-6915-03C21078F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94" y="2204649"/>
            <a:ext cx="5829152" cy="342462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735E-726B-A7D1-C44F-30B84F1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094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F98557-BE14-793E-46AC-1BE5F6C5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Vector norms</a:t>
            </a:r>
          </a:p>
        </p:txBody>
      </p:sp>
      <p:pic>
        <p:nvPicPr>
          <p:cNvPr id="3" name="Picture 2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BABEDE64-401E-D458-5251-16FC33735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110936"/>
            <a:ext cx="11327549" cy="41628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735E-726B-A7D1-C44F-30B84F1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222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2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3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3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F98557-BE14-793E-46AC-1BE5F6C5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+mj-lt"/>
              </a:rPr>
              <a:t>Vector norms</a:t>
            </a:r>
          </a:p>
        </p:txBody>
      </p:sp>
      <p:pic>
        <p:nvPicPr>
          <p:cNvPr id="8" name="Picture 7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E83285A9-973A-3F2A-6A2D-9F773B03E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57" y="2282008"/>
            <a:ext cx="5131088" cy="1462359"/>
          </a:xfrm>
          <a:prstGeom prst="rect">
            <a:avLst/>
          </a:prstGeom>
        </p:spPr>
      </p:pic>
      <p:pic>
        <p:nvPicPr>
          <p:cNvPr id="6" name="Picture 5" descr="A graph and diagram of a mathematical equation&#10;&#10;Description automatically generated with medium confidence">
            <a:extLst>
              <a:ext uri="{FF2B5EF4-FFF2-40B4-BE49-F238E27FC236}">
                <a16:creationId xmlns:a16="http://schemas.microsoft.com/office/drawing/2014/main" id="{4015E16E-C5E0-FA45-42D4-7F6B3B7E6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311814"/>
            <a:ext cx="5131087" cy="38098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735E-726B-A7D1-C44F-30B84F1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B2870-57DB-4E4A-8867-5C05988FA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935" y="6015882"/>
            <a:ext cx="5713252" cy="42252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E2B374D-FE3E-8B3B-40EE-A750895193E5}"/>
              </a:ext>
            </a:extLst>
          </p:cNvPr>
          <p:cNvSpPr txBox="1">
            <a:spLocks/>
          </p:cNvSpPr>
          <p:nvPr/>
        </p:nvSpPr>
        <p:spPr>
          <a:xfrm>
            <a:off x="933449" y="5919632"/>
            <a:ext cx="6181289" cy="615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u="dotted" kern="1200" baseline="0">
                <a:solidFill>
                  <a:schemeClr val="tx1"/>
                </a:solidFill>
                <a:uFill>
                  <a:solidFill>
                    <a:schemeClr val="accent4">
                      <a:lumMod val="50000"/>
                    </a:schemeClr>
                  </a:solidFill>
                </a:uFill>
                <a:latin typeface="Trangshandwriting" panose="02000503000000000000" pitchFamily="2" charset="0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+mj-lt"/>
              </a:rPr>
              <a:t>Question:</a:t>
            </a:r>
          </a:p>
        </p:txBody>
      </p:sp>
    </p:spTree>
    <p:extLst>
      <p:ext uri="{BB962C8B-B14F-4D97-AF65-F5344CB8AC3E}">
        <p14:creationId xmlns:p14="http://schemas.microsoft.com/office/powerpoint/2010/main" val="2697989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7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C3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F98557-BE14-793E-46AC-1BE5F6C5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L1 norm plot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962F37-EE03-4DA0-F5B9-1A31B67D2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826" y="1429760"/>
            <a:ext cx="7957174" cy="39984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735E-726B-A7D1-C44F-30B84F1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mtClean="0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81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EEF40-0DBE-C672-F0D5-D7662DB15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105026"/>
            <a:ext cx="2484121" cy="23622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2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Dot product</a:t>
            </a:r>
            <a:endParaRPr lang="en-US" sz="26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5D8AFC5-8C99-A012-880D-5B3BFD5F8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908" y="581461"/>
            <a:ext cx="8165024" cy="540932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735E-726B-A7D1-C44F-30B84F1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9020" y="6356350"/>
            <a:ext cx="167477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38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F826A-5A12-C343-8604-22453804F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3" y="722428"/>
            <a:ext cx="5116480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u="dotted" kern="1200" dirty="0">
                <a:solidFill>
                  <a:schemeClr val="bg1"/>
                </a:solidFill>
                <a:uFill>
                  <a:solidFill>
                    <a:schemeClr val="accent4">
                      <a:lumMod val="50000"/>
                    </a:schemeClr>
                  </a:solidFill>
                </a:uFill>
                <a:latin typeface="+mj-lt"/>
                <a:ea typeface="+mj-ea"/>
                <a:cs typeface="+mj-cs"/>
              </a:rPr>
              <a:t>Cauchy-Schwarz inequality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5912BA3-D68A-E814-904C-8ACFCDB6A7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7144" y="1546225"/>
            <a:ext cx="920251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79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AFA4E-26B1-AAD6-CA15-8513518F2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Vector-Matrix Multiplication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E16004-435A-ED2E-33F6-6FCC29A21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655276"/>
            <a:ext cx="8229125" cy="510205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15E3-45B7-E394-79A2-FCD5C4109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184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68B2C8-4D96-2CC0-A962-A398F52D8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Special Matrices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AC4CE4-FEBD-B183-5C83-3F8DF6B13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1" y="1655276"/>
            <a:ext cx="8357670" cy="495192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BDC4C-EB57-828C-8546-EA16B5860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722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CAAB90-F8E8-3741-40B2-EBE22850D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  <a:latin typeface="+mj-lt"/>
              </a:rPr>
              <a:t>Inverse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BE06-EBC4-D31A-00E6-791CC44B5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1507" y="387224"/>
            <a:ext cx="3291839" cy="8304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+mn-lt"/>
              </a:rPr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68A740E-B4F9-F110-006E-AB1C464DE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64" y="2752725"/>
            <a:ext cx="6030645" cy="2547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A2EEE7-75DC-795C-C1DC-F523921DF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52232"/>
            <a:ext cx="6031811" cy="254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0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E794D-5976-D68C-CCBD-A7781480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Orthogonal Matrices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C6EAAB-4C8D-B460-D38F-78D9FF6D9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336" y="1575956"/>
            <a:ext cx="8496209" cy="50340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879B6-66C4-6C00-F66B-640DF793C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803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3C592E-3ADB-8D2F-4588-FD060D89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Special case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005670-9C8B-0564-8EF8-C36A76AC7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93" y="1966293"/>
            <a:ext cx="10294012" cy="44521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43E0D-788C-8FB4-9837-954FC7C5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593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C7F6F-2C7A-C7FA-B437-C016D33E2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Symmetric Matrices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CAB690-FF70-7C86-CE75-F3DCBA6E4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1575956"/>
            <a:ext cx="7669351" cy="525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007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06F39-C431-FBA7-9E20-E2667722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Eigen Decomposition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7B3E04-71CA-59B5-871C-27321393A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1" y="1574310"/>
            <a:ext cx="7777030" cy="53855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021ECC-B91E-C1E0-5989-01C691D81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524" y="5142708"/>
            <a:ext cx="346675" cy="40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10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4B2327-DC40-D360-BA0D-CD36282B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Symmetric Positive Semidefinite Matrices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FFA624-63A8-7E5C-512C-89F9DEA4B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74310"/>
            <a:ext cx="9246873" cy="50164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F2C7A-98F0-D455-7A69-68694D2B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249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BF3D4-49B0-E6CB-DE3C-1B704E29A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Symmetric Positive Definite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ADD693-E3B2-6D58-D50B-3AEAC6923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78" y="1773186"/>
            <a:ext cx="7656942" cy="33116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49D605-1D79-E95C-AFD8-B35E76431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824" y="3960765"/>
            <a:ext cx="4313294" cy="22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562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B154-6B95-EDFA-1A65-094657B21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probability?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A082DB-85F9-73A4-F0BE-C277B87ED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1702900"/>
            <a:ext cx="5589491" cy="50864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6805B-ABBF-55A5-5EA1-16D3D82CE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157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9BBF8-FB26-954B-4ED6-C2C22F76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Two interpretations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BFAF3B-8158-227F-2107-4401DD96B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00" y="2150596"/>
            <a:ext cx="11327549" cy="345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8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EF624-D801-0E23-A16F-6B5F93719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Bayesian Interpretation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D87BB9-B469-A388-119C-041A7C840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1822348"/>
            <a:ext cx="11327549" cy="438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111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56DFA-63A2-DC11-730B-71BE59BFF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Binary Random Variables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696B35-D392-780F-2A2D-DDF9EBDCF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23" y="1655275"/>
            <a:ext cx="10315363" cy="456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13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97C34E-FAD9-0A0F-F126-3C95C43E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Bernoulli Distribution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A7E2B3-7898-6644-4E8A-6D467EA51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27" y="1575956"/>
            <a:ext cx="10298761" cy="47631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CBAF0-FB93-EBB0-CF6B-D50D2B5F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970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F3C4B-B345-4B86-35B9-1BBF9A85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Tossing a coin twice?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7E0785-EEAA-2DDB-E01C-4264B8F89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61" y="1998964"/>
            <a:ext cx="11553077" cy="369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78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46C3A-8CD6-8240-250F-D308D5FF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Gaussian Distribution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A8E09B-8E50-BE17-BD14-0F1DA976A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1631641"/>
            <a:ext cx="7278697" cy="51678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02CB2E-F32A-51DB-A682-BBC4B60E9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744" y="2350013"/>
            <a:ext cx="5570703" cy="425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73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46C3A-8CD6-8240-250F-D308D5FF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Probability of two random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A45958-4E27-9EC0-7AF4-32079073B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361" y="1655276"/>
            <a:ext cx="9525608" cy="459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69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46C3A-8CD6-8240-250F-D308D5FF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Independence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9EAC79-4A0D-2A26-4AE6-825B45F9B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407" y="1655276"/>
            <a:ext cx="8893543" cy="520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105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46C3A-8CD6-8240-250F-D308D5FF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Conditional Probability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B0A6AD-089A-D0F4-70A6-15BB9BE6E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1575955"/>
            <a:ext cx="7815479" cy="525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49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46C3A-8CD6-8240-250F-D308D5FF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Conditional Probability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5411FF-508E-3D5D-7D9C-70792BC4E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417" y="1655276"/>
            <a:ext cx="9519540" cy="468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13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46C3A-8CD6-8240-250F-D308D5FF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74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  <a:effectLst>
          <a:innerShdw blurRad="63500" dist="50800" dir="2700000">
            <a:prstClr val="black">
              <a:alpha val="50000"/>
            </a:prstClr>
          </a:innerShdw>
        </a:effectLst>
      </a:spPr>
      <a:bodyPr rtlCol="0" anchor="ctr"/>
      <a:lstStyle>
        <a:defPPr algn="ctr">
          <a:defRPr sz="2800" dirty="0" smtClean="0">
            <a:latin typeface="Trangpencil" panose="02000503000000000000" pitchFamily="2" charset="0"/>
          </a:defRPr>
        </a:defPPr>
      </a:lstStyle>
      <a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a:style>
    </a:spDef>
    <a:lnDef>
      <a:spPr>
        <a:ln w="19050">
          <a:prstDash val="sysDot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E1E23D37-4054-7140-8FAC-0EF71044AE3E}" vid="{00E0EAF7-0414-514D-A19B-7BFBD3324D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2857</TotalTime>
  <Words>99</Words>
  <Application>Microsoft Macintosh PowerPoint</Application>
  <PresentationFormat>Widescreen</PresentationFormat>
  <Paragraphs>46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Trangshandwriting</vt:lpstr>
      <vt:lpstr>Arial</vt:lpstr>
      <vt:lpstr>Calibri</vt:lpstr>
      <vt:lpstr>Calibri Light</vt:lpstr>
      <vt:lpstr>Office Theme</vt:lpstr>
      <vt:lpstr>BDA 411/511 Introduction to Machine Learning</vt:lpstr>
      <vt:lpstr>Basic Notation</vt:lpstr>
      <vt:lpstr>Vector norms</vt:lpstr>
      <vt:lpstr>Vector norms</vt:lpstr>
      <vt:lpstr>L1 norm plot</vt:lpstr>
      <vt:lpstr>Dot product</vt:lpstr>
      <vt:lpstr>Cauchy-Schwarz inequality</vt:lpstr>
      <vt:lpstr>Vector-Matrix Multiplication</vt:lpstr>
      <vt:lpstr>Special Matrices</vt:lpstr>
      <vt:lpstr>Inverse</vt:lpstr>
      <vt:lpstr>Orthogonal Matrices</vt:lpstr>
      <vt:lpstr>Special case</vt:lpstr>
      <vt:lpstr>Symmetric Matrices</vt:lpstr>
      <vt:lpstr>Eigen Decomposition</vt:lpstr>
      <vt:lpstr>Symmetric Positive Semidefinite Matrices</vt:lpstr>
      <vt:lpstr>Symmetric Positive Definite</vt:lpstr>
      <vt:lpstr>What is probability?</vt:lpstr>
      <vt:lpstr>Two interpretations</vt:lpstr>
      <vt:lpstr>Bayesian Interpretation</vt:lpstr>
      <vt:lpstr>Binary Random Variables</vt:lpstr>
      <vt:lpstr>Bernoulli Distribution</vt:lpstr>
      <vt:lpstr>Tossing a coin twice?</vt:lpstr>
      <vt:lpstr>Gaussian Distribution</vt:lpstr>
      <vt:lpstr>Probability of two random variables</vt:lpstr>
      <vt:lpstr>Independence</vt:lpstr>
      <vt:lpstr>Conditional Probability</vt:lpstr>
      <vt:lpstr>Conditional Probability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Song, Guohui</dc:creator>
  <cp:lastModifiedBy>Xie, Xuping</cp:lastModifiedBy>
  <cp:revision>16</cp:revision>
  <dcterms:created xsi:type="dcterms:W3CDTF">2022-05-05T03:19:32Z</dcterms:created>
  <dcterms:modified xsi:type="dcterms:W3CDTF">2026-08-19T21:58:39Z</dcterms:modified>
</cp:coreProperties>
</file>