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64" r:id="rId3"/>
    <p:sldId id="257" r:id="rId4"/>
    <p:sldId id="265" r:id="rId5"/>
    <p:sldId id="281" r:id="rId6"/>
    <p:sldId id="274" r:id="rId7"/>
    <p:sldId id="279" r:id="rId8"/>
    <p:sldId id="266" r:id="rId9"/>
    <p:sldId id="267" r:id="rId10"/>
    <p:sldId id="268" r:id="rId11"/>
    <p:sldId id="269" r:id="rId12"/>
    <p:sldId id="270" r:id="rId13"/>
    <p:sldId id="271" r:id="rId14"/>
    <p:sldId id="272" r:id="rId15"/>
    <p:sldId id="273" r:id="rId16"/>
    <p:sldId id="276" r:id="rId17"/>
    <p:sldId id="277" r:id="rId18"/>
    <p:sldId id="278" r:id="rId19"/>
    <p:sldId id="282" r:id="rId20"/>
    <p:sldId id="283" r:id="rId21"/>
  </p:sldIdLst>
  <p:sldSz cx="9144000" cy="5143500" type="screen16x9"/>
  <p:notesSz cx="6858000" cy="9144000"/>
  <p:embeddedFontLst>
    <p:embeddedFont>
      <p:font typeface="Montserrat" pitchFamily="2" charset="77"/>
      <p:regular r:id="rId23"/>
      <p:bold r:id="rId24"/>
      <p:italic r:id="rId25"/>
      <p:boldItalic r:id="rId26"/>
    </p:embeddedFont>
    <p:embeddedFont>
      <p:font typeface="Proxima Nova" panose="02000506030000020004"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37" autoAdjust="0"/>
  </p:normalViewPr>
  <p:slideViewPr>
    <p:cSldViewPr snapToGrid="0">
      <p:cViewPr varScale="1">
        <p:scale>
          <a:sx n="170" d="100"/>
          <a:sy n="170" d="100"/>
        </p:scale>
        <p:origin x="504"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a1c0408c68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1c0408c68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the images in this layout pattern.  Make it your own! (And take this note off of the slides.)</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1c0408c6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1c0408c6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1139708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4211069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729892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3239650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7392662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1464068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1015263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242168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504087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14366021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2310127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3008202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38522946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38890052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14099603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3686714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21344640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a1c0408c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a1c0408c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Note: on these slides, feel free to use as many or as few photos or other images (logos, screenshots, etc.) as you think are appropriate.  You are not limited to three images in this layout pattern.  Make it your own! (And take this note off of the slides.)</a:t>
            </a:r>
            <a:endParaRPr/>
          </a:p>
        </p:txBody>
      </p:sp>
    </p:spTree>
    <p:extLst>
      <p:ext uri="{BB962C8B-B14F-4D97-AF65-F5344CB8AC3E}">
        <p14:creationId xmlns:p14="http://schemas.microsoft.com/office/powerpoint/2010/main" val="1078141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image" Target="../media/image33.emf"/><Relationship Id="rId7" Type="http://schemas.openxmlformats.org/officeDocument/2006/relationships/image" Target="../media/image37.emf"/><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34.emf"/></Relationships>
</file>

<file path=ppt/slides/_rels/slide17.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41.emf"/><Relationship Id="rId4" Type="http://schemas.openxmlformats.org/officeDocument/2006/relationships/image" Target="../media/image40.emf"/></Relationships>
</file>

<file path=ppt/slides/_rels/slide18.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image" Target="../media/image42.emf"/><Relationship Id="rId7" Type="http://schemas.openxmlformats.org/officeDocument/2006/relationships/image" Target="../media/image46.emf"/><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45.emf"/><Relationship Id="rId5" Type="http://schemas.openxmlformats.org/officeDocument/2006/relationships/image" Target="../media/image44.emf"/><Relationship Id="rId4" Type="http://schemas.openxmlformats.org/officeDocument/2006/relationships/image" Target="../media/image43.emf"/></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6" name="Google Shape;56;p13"/>
          <p:cNvPicPr preferRelativeResize="0"/>
          <p:nvPr/>
        </p:nvPicPr>
        <p:blipFill>
          <a:blip r:embed="rId3">
            <a:alphaModFix/>
          </a:blip>
          <a:stretch>
            <a:fillRect/>
          </a:stretch>
        </p:blipFill>
        <p:spPr>
          <a:xfrm>
            <a:off x="3884023" y="115664"/>
            <a:ext cx="1287151" cy="529911"/>
          </a:xfrm>
          <a:prstGeom prst="rect">
            <a:avLst/>
          </a:prstGeom>
          <a:noFill/>
          <a:ln>
            <a:noFill/>
          </a:ln>
        </p:spPr>
      </p:pic>
      <p:sp>
        <p:nvSpPr>
          <p:cNvPr id="71" name="Google Shape;71;p13"/>
          <p:cNvSpPr txBox="1"/>
          <p:nvPr/>
        </p:nvSpPr>
        <p:spPr>
          <a:xfrm>
            <a:off x="2510998" y="3107819"/>
            <a:ext cx="4033200" cy="136132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latin typeface="Proxima Nova"/>
                <a:ea typeface="Proxima Nova"/>
                <a:cs typeface="Proxima Nova"/>
                <a:sym typeface="Proxima Nova"/>
              </a:rPr>
              <a:t>Dr</a:t>
            </a:r>
            <a:r>
              <a:rPr lang="en" sz="2200" dirty="0">
                <a:latin typeface="Proxima Nova"/>
                <a:ea typeface="Proxima Nova"/>
                <a:cs typeface="Proxima Nova"/>
                <a:sym typeface="Proxima Nova"/>
              </a:rPr>
              <a:t>. </a:t>
            </a:r>
            <a:r>
              <a:rPr lang="en" sz="2200" dirty="0" err="1">
                <a:latin typeface="Proxima Nova"/>
                <a:ea typeface="Proxima Nova"/>
                <a:cs typeface="Proxima Nova"/>
                <a:sym typeface="Proxima Nova"/>
              </a:rPr>
              <a:t>Xuping</a:t>
            </a:r>
            <a:r>
              <a:rPr lang="en" sz="2200" dirty="0">
                <a:latin typeface="Proxima Nova"/>
                <a:ea typeface="Proxima Nova"/>
                <a:cs typeface="Proxima Nova"/>
                <a:sym typeface="Proxima Nova"/>
              </a:rPr>
              <a:t> Xie</a:t>
            </a:r>
          </a:p>
          <a:p>
            <a:pPr marL="0" lvl="0" indent="0" algn="ctr" rtl="0">
              <a:spcBef>
                <a:spcPts val="0"/>
              </a:spcBef>
              <a:spcAft>
                <a:spcPts val="0"/>
              </a:spcAft>
              <a:buNone/>
            </a:pPr>
            <a:r>
              <a:rPr lang="en" sz="2200" dirty="0">
                <a:latin typeface="Proxima Nova"/>
                <a:ea typeface="Proxima Nova"/>
                <a:cs typeface="Proxima Nova"/>
                <a:sym typeface="Proxima Nova"/>
              </a:rPr>
              <a:t>Department of Math &amp; Stat</a:t>
            </a:r>
            <a:endParaRPr sz="2200" dirty="0">
              <a:latin typeface="Proxima Nova"/>
              <a:ea typeface="Proxima Nova"/>
              <a:cs typeface="Proxima Nova"/>
              <a:sym typeface="Proxima Nova"/>
            </a:endParaRPr>
          </a:p>
        </p:txBody>
      </p:sp>
      <p:sp>
        <p:nvSpPr>
          <p:cNvPr id="3" name="Google Shape;88;p15">
            <a:extLst>
              <a:ext uri="{FF2B5EF4-FFF2-40B4-BE49-F238E27FC236}">
                <a16:creationId xmlns:a16="http://schemas.microsoft.com/office/drawing/2014/main" id="{8A69568A-D55C-88EA-AEC6-F37CA9F3C3BA}"/>
              </a:ext>
            </a:extLst>
          </p:cNvPr>
          <p:cNvSpPr txBox="1">
            <a:spLocks/>
          </p:cNvSpPr>
          <p:nvPr/>
        </p:nvSpPr>
        <p:spPr>
          <a:xfrm>
            <a:off x="0" y="844731"/>
            <a:ext cx="9143999" cy="2063932"/>
          </a:xfrm>
          <a:prstGeom prst="rect">
            <a:avLst/>
          </a:prstGeom>
          <a:solidFill>
            <a:srgbClr val="073763"/>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endParaRPr lang="en-US" sz="3200" dirty="0">
              <a:solidFill>
                <a:srgbClr val="FFFFFF"/>
              </a:solidFill>
              <a:latin typeface="Montserrat"/>
              <a:ea typeface="Montserrat"/>
              <a:cs typeface="Montserrat"/>
              <a:sym typeface="Montserrat"/>
            </a:endParaRPr>
          </a:p>
          <a:p>
            <a:r>
              <a:rPr lang="en-US" sz="3200" dirty="0">
                <a:solidFill>
                  <a:srgbClr val="FFFFFF"/>
                </a:solidFill>
                <a:latin typeface="Montserrat"/>
                <a:ea typeface="Montserrat"/>
                <a:cs typeface="Montserrat"/>
                <a:sym typeface="Montserrat"/>
              </a:rPr>
              <a:t>BDA411/511</a:t>
            </a:r>
          </a:p>
          <a:p>
            <a:r>
              <a:rPr lang="en-US" sz="3200" dirty="0">
                <a:solidFill>
                  <a:srgbClr val="FFFFFF"/>
                </a:solidFill>
                <a:latin typeface="Montserrat"/>
                <a:ea typeface="Montserrat"/>
                <a:cs typeface="Montserrat"/>
                <a:sym typeface="Montserrat"/>
              </a:rPr>
              <a:t>Introduction to Machine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311700" y="436318"/>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SVD error</a:t>
            </a:r>
            <a:endParaRPr dirty="0">
              <a:solidFill>
                <a:srgbClr val="FFFFFF"/>
              </a:solidFill>
              <a:latin typeface="Montserrat"/>
              <a:ea typeface="Montserrat"/>
              <a:cs typeface="Montserrat"/>
              <a:sym typeface="Montserrat"/>
            </a:endParaRPr>
          </a:p>
        </p:txBody>
      </p:sp>
      <p:pic>
        <p:nvPicPr>
          <p:cNvPr id="4" name="Picture 3">
            <a:extLst>
              <a:ext uri="{FF2B5EF4-FFF2-40B4-BE49-F238E27FC236}">
                <a16:creationId xmlns:a16="http://schemas.microsoft.com/office/drawing/2014/main" id="{4069AE6C-BDF3-93BE-3661-72E21C407A69}"/>
              </a:ext>
            </a:extLst>
          </p:cNvPr>
          <p:cNvPicPr>
            <a:picLocks noChangeAspect="1"/>
          </p:cNvPicPr>
          <p:nvPr/>
        </p:nvPicPr>
        <p:blipFill>
          <a:blip r:embed="rId3"/>
          <a:stretch>
            <a:fillRect/>
          </a:stretch>
        </p:blipFill>
        <p:spPr>
          <a:xfrm>
            <a:off x="2919205" y="1101769"/>
            <a:ext cx="5154262" cy="1052162"/>
          </a:xfrm>
          <a:prstGeom prst="rect">
            <a:avLst/>
          </a:prstGeom>
        </p:spPr>
      </p:pic>
      <p:pic>
        <p:nvPicPr>
          <p:cNvPr id="6" name="Picture 5">
            <a:extLst>
              <a:ext uri="{FF2B5EF4-FFF2-40B4-BE49-F238E27FC236}">
                <a16:creationId xmlns:a16="http://schemas.microsoft.com/office/drawing/2014/main" id="{2AB6F3A3-C9E5-6678-0863-6B41A5405625}"/>
              </a:ext>
            </a:extLst>
          </p:cNvPr>
          <p:cNvPicPr>
            <a:picLocks noChangeAspect="1"/>
          </p:cNvPicPr>
          <p:nvPr/>
        </p:nvPicPr>
        <p:blipFill>
          <a:blip r:embed="rId4"/>
          <a:stretch>
            <a:fillRect/>
          </a:stretch>
        </p:blipFill>
        <p:spPr>
          <a:xfrm>
            <a:off x="2919205" y="2234504"/>
            <a:ext cx="4455042" cy="1052162"/>
          </a:xfrm>
          <a:prstGeom prst="rect">
            <a:avLst/>
          </a:prstGeom>
        </p:spPr>
      </p:pic>
      <p:sp>
        <p:nvSpPr>
          <p:cNvPr id="7" name="TextBox 6">
            <a:extLst>
              <a:ext uri="{FF2B5EF4-FFF2-40B4-BE49-F238E27FC236}">
                <a16:creationId xmlns:a16="http://schemas.microsoft.com/office/drawing/2014/main" id="{02F722B0-3D41-5F34-C580-3A53198F8954}"/>
              </a:ext>
            </a:extLst>
          </p:cNvPr>
          <p:cNvSpPr txBox="1"/>
          <p:nvPr/>
        </p:nvSpPr>
        <p:spPr>
          <a:xfrm>
            <a:off x="580610" y="1320073"/>
            <a:ext cx="1560896" cy="307777"/>
          </a:xfrm>
          <a:prstGeom prst="rect">
            <a:avLst/>
          </a:prstGeom>
          <a:noFill/>
        </p:spPr>
        <p:txBody>
          <a:bodyPr wrap="square" rtlCol="0">
            <a:spAutoFit/>
          </a:bodyPr>
          <a:lstStyle/>
          <a:p>
            <a:r>
              <a:rPr lang="en-US" dirty="0"/>
              <a:t>SVD(Economy)</a:t>
            </a:r>
          </a:p>
        </p:txBody>
      </p:sp>
      <p:sp>
        <p:nvSpPr>
          <p:cNvPr id="8" name="TextBox 7">
            <a:extLst>
              <a:ext uri="{FF2B5EF4-FFF2-40B4-BE49-F238E27FC236}">
                <a16:creationId xmlns:a16="http://schemas.microsoft.com/office/drawing/2014/main" id="{2EA9142C-2EAF-8021-787F-720B5BB57F41}"/>
              </a:ext>
            </a:extLst>
          </p:cNvPr>
          <p:cNvSpPr txBox="1"/>
          <p:nvPr/>
        </p:nvSpPr>
        <p:spPr>
          <a:xfrm>
            <a:off x="585995" y="2310140"/>
            <a:ext cx="2477954" cy="523220"/>
          </a:xfrm>
          <a:prstGeom prst="rect">
            <a:avLst/>
          </a:prstGeom>
          <a:noFill/>
        </p:spPr>
        <p:txBody>
          <a:bodyPr wrap="square" rtlCol="0">
            <a:spAutoFit/>
          </a:bodyPr>
          <a:lstStyle/>
          <a:p>
            <a:r>
              <a:rPr lang="en-US" dirty="0"/>
              <a:t>SVD truncation</a:t>
            </a:r>
          </a:p>
          <a:p>
            <a:r>
              <a:rPr lang="en-US" dirty="0"/>
              <a:t>(low-rank approximation)</a:t>
            </a:r>
          </a:p>
        </p:txBody>
      </p:sp>
      <p:pic>
        <p:nvPicPr>
          <p:cNvPr id="2" name="Picture 1">
            <a:extLst>
              <a:ext uri="{FF2B5EF4-FFF2-40B4-BE49-F238E27FC236}">
                <a16:creationId xmlns:a16="http://schemas.microsoft.com/office/drawing/2014/main" id="{07AD79CE-83F4-1597-E5D6-7C2446B20F31}"/>
              </a:ext>
            </a:extLst>
          </p:cNvPr>
          <p:cNvPicPr>
            <a:picLocks noChangeAspect="1"/>
          </p:cNvPicPr>
          <p:nvPr/>
        </p:nvPicPr>
        <p:blipFill>
          <a:blip r:embed="rId5"/>
          <a:stretch>
            <a:fillRect/>
          </a:stretch>
        </p:blipFill>
        <p:spPr>
          <a:xfrm>
            <a:off x="3523300" y="4195619"/>
            <a:ext cx="2107019" cy="736324"/>
          </a:xfrm>
          <a:prstGeom prst="rect">
            <a:avLst/>
          </a:prstGeom>
        </p:spPr>
      </p:pic>
      <p:sp>
        <p:nvSpPr>
          <p:cNvPr id="3" name="TextBox 2">
            <a:extLst>
              <a:ext uri="{FF2B5EF4-FFF2-40B4-BE49-F238E27FC236}">
                <a16:creationId xmlns:a16="http://schemas.microsoft.com/office/drawing/2014/main" id="{A26256BD-6E2E-5455-CF38-10988DA22953}"/>
              </a:ext>
            </a:extLst>
          </p:cNvPr>
          <p:cNvSpPr txBox="1"/>
          <p:nvPr/>
        </p:nvSpPr>
        <p:spPr>
          <a:xfrm>
            <a:off x="585995" y="4379499"/>
            <a:ext cx="2772122" cy="307777"/>
          </a:xfrm>
          <a:prstGeom prst="rect">
            <a:avLst/>
          </a:prstGeom>
          <a:noFill/>
        </p:spPr>
        <p:txBody>
          <a:bodyPr wrap="square" rtlCol="0">
            <a:spAutoFit/>
          </a:bodyPr>
          <a:lstStyle/>
          <a:p>
            <a:r>
              <a:rPr lang="en-US" dirty="0"/>
              <a:t>Matrix F-norm (</a:t>
            </a:r>
            <a:r>
              <a:rPr lang="en-US" dirty="0" err="1"/>
              <a:t>Frobenius</a:t>
            </a:r>
            <a:r>
              <a:rPr lang="en-US" dirty="0"/>
              <a:t> norm)</a:t>
            </a:r>
          </a:p>
        </p:txBody>
      </p:sp>
      <p:pic>
        <p:nvPicPr>
          <p:cNvPr id="5" name="Picture 4">
            <a:extLst>
              <a:ext uri="{FF2B5EF4-FFF2-40B4-BE49-F238E27FC236}">
                <a16:creationId xmlns:a16="http://schemas.microsoft.com/office/drawing/2014/main" id="{243EE44A-088A-8CE6-F760-DF0CC1475430}"/>
              </a:ext>
            </a:extLst>
          </p:cNvPr>
          <p:cNvPicPr>
            <a:picLocks noChangeAspect="1"/>
          </p:cNvPicPr>
          <p:nvPr/>
        </p:nvPicPr>
        <p:blipFill>
          <a:blip r:embed="rId6"/>
          <a:stretch>
            <a:fillRect/>
          </a:stretch>
        </p:blipFill>
        <p:spPr>
          <a:xfrm>
            <a:off x="2903256" y="3430616"/>
            <a:ext cx="2243470" cy="673695"/>
          </a:xfrm>
          <a:prstGeom prst="rect">
            <a:avLst/>
          </a:prstGeom>
        </p:spPr>
      </p:pic>
    </p:spTree>
    <p:extLst>
      <p:ext uri="{BB962C8B-B14F-4D97-AF65-F5344CB8AC3E}">
        <p14:creationId xmlns:p14="http://schemas.microsoft.com/office/powerpoint/2010/main" val="4009846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SVD Error</a:t>
            </a:r>
            <a:endParaRPr dirty="0">
              <a:solidFill>
                <a:srgbClr val="FFFFFF"/>
              </a:solidFill>
              <a:latin typeface="Montserrat"/>
              <a:ea typeface="Montserrat"/>
              <a:cs typeface="Montserrat"/>
              <a:sym typeface="Montserrat"/>
            </a:endParaRPr>
          </a:p>
        </p:txBody>
      </p:sp>
      <p:pic>
        <p:nvPicPr>
          <p:cNvPr id="2" name="Picture 1">
            <a:extLst>
              <a:ext uri="{FF2B5EF4-FFF2-40B4-BE49-F238E27FC236}">
                <a16:creationId xmlns:a16="http://schemas.microsoft.com/office/drawing/2014/main" id="{37988B02-C734-66CC-02EF-2C00AE53F2B2}"/>
              </a:ext>
            </a:extLst>
          </p:cNvPr>
          <p:cNvPicPr>
            <a:picLocks noChangeAspect="1"/>
          </p:cNvPicPr>
          <p:nvPr/>
        </p:nvPicPr>
        <p:blipFill>
          <a:blip r:embed="rId3"/>
          <a:stretch>
            <a:fillRect/>
          </a:stretch>
        </p:blipFill>
        <p:spPr>
          <a:xfrm>
            <a:off x="3468175" y="1443985"/>
            <a:ext cx="2207650" cy="701815"/>
          </a:xfrm>
          <a:prstGeom prst="rect">
            <a:avLst/>
          </a:prstGeom>
        </p:spPr>
      </p:pic>
      <p:sp>
        <p:nvSpPr>
          <p:cNvPr id="3" name="TextBox 2">
            <a:extLst>
              <a:ext uri="{FF2B5EF4-FFF2-40B4-BE49-F238E27FC236}">
                <a16:creationId xmlns:a16="http://schemas.microsoft.com/office/drawing/2014/main" id="{08B590BE-C392-EB40-833C-E31E203DA47F}"/>
              </a:ext>
            </a:extLst>
          </p:cNvPr>
          <p:cNvSpPr txBox="1"/>
          <p:nvPr/>
        </p:nvSpPr>
        <p:spPr>
          <a:xfrm>
            <a:off x="481820" y="1611985"/>
            <a:ext cx="3179702" cy="307777"/>
          </a:xfrm>
          <a:prstGeom prst="rect">
            <a:avLst/>
          </a:prstGeom>
          <a:noFill/>
        </p:spPr>
        <p:txBody>
          <a:bodyPr wrap="square" rtlCol="0">
            <a:spAutoFit/>
          </a:bodyPr>
          <a:lstStyle/>
          <a:p>
            <a:r>
              <a:rPr lang="en-US" dirty="0"/>
              <a:t>Rank-r SVD Approximation Error</a:t>
            </a:r>
          </a:p>
        </p:txBody>
      </p:sp>
      <p:pic>
        <p:nvPicPr>
          <p:cNvPr id="5" name="Picture 4">
            <a:extLst>
              <a:ext uri="{FF2B5EF4-FFF2-40B4-BE49-F238E27FC236}">
                <a16:creationId xmlns:a16="http://schemas.microsoft.com/office/drawing/2014/main" id="{C0F05D2C-291D-AF54-EF39-36EAF5948FDC}"/>
              </a:ext>
            </a:extLst>
          </p:cNvPr>
          <p:cNvPicPr>
            <a:picLocks noChangeAspect="1"/>
          </p:cNvPicPr>
          <p:nvPr/>
        </p:nvPicPr>
        <p:blipFill>
          <a:blip r:embed="rId4"/>
          <a:stretch>
            <a:fillRect/>
          </a:stretch>
        </p:blipFill>
        <p:spPr>
          <a:xfrm>
            <a:off x="3555197" y="2523567"/>
            <a:ext cx="793519" cy="571334"/>
          </a:xfrm>
          <a:prstGeom prst="rect">
            <a:avLst/>
          </a:prstGeom>
        </p:spPr>
      </p:pic>
      <p:sp>
        <p:nvSpPr>
          <p:cNvPr id="6" name="TextBox 5">
            <a:extLst>
              <a:ext uri="{FF2B5EF4-FFF2-40B4-BE49-F238E27FC236}">
                <a16:creationId xmlns:a16="http://schemas.microsoft.com/office/drawing/2014/main" id="{ADDBD241-AED5-7C4A-4303-81439905893C}"/>
              </a:ext>
            </a:extLst>
          </p:cNvPr>
          <p:cNvSpPr txBox="1"/>
          <p:nvPr/>
        </p:nvSpPr>
        <p:spPr>
          <a:xfrm>
            <a:off x="481820" y="2627299"/>
            <a:ext cx="3179702" cy="307777"/>
          </a:xfrm>
          <a:prstGeom prst="rect">
            <a:avLst/>
          </a:prstGeom>
          <a:noFill/>
        </p:spPr>
        <p:txBody>
          <a:bodyPr wrap="square" rtlCol="0">
            <a:spAutoFit/>
          </a:bodyPr>
          <a:lstStyle/>
          <a:p>
            <a:r>
              <a:rPr lang="en-US" dirty="0"/>
              <a:t>Rank-r SVD Cumulative sum</a:t>
            </a:r>
          </a:p>
        </p:txBody>
      </p:sp>
      <p:sp>
        <p:nvSpPr>
          <p:cNvPr id="11" name="Rounded Rectangle 10">
            <a:extLst>
              <a:ext uri="{FF2B5EF4-FFF2-40B4-BE49-F238E27FC236}">
                <a16:creationId xmlns:a16="http://schemas.microsoft.com/office/drawing/2014/main" id="{87AC33A7-06A7-5460-86D9-8E9BDF31D086}"/>
              </a:ext>
            </a:extLst>
          </p:cNvPr>
          <p:cNvSpPr/>
          <p:nvPr/>
        </p:nvSpPr>
        <p:spPr>
          <a:xfrm>
            <a:off x="481820" y="3312843"/>
            <a:ext cx="7614955" cy="1694350"/>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noFill/>
            </a:endParaRPr>
          </a:p>
        </p:txBody>
      </p:sp>
      <p:sp>
        <p:nvSpPr>
          <p:cNvPr id="12" name="TextBox 11">
            <a:extLst>
              <a:ext uri="{FF2B5EF4-FFF2-40B4-BE49-F238E27FC236}">
                <a16:creationId xmlns:a16="http://schemas.microsoft.com/office/drawing/2014/main" id="{58843F3E-473E-B007-3782-D8668276B9C8}"/>
              </a:ext>
            </a:extLst>
          </p:cNvPr>
          <p:cNvSpPr txBox="1"/>
          <p:nvPr/>
        </p:nvSpPr>
        <p:spPr>
          <a:xfrm>
            <a:off x="621721" y="3516779"/>
            <a:ext cx="7900558" cy="738664"/>
          </a:xfrm>
          <a:prstGeom prst="rect">
            <a:avLst/>
          </a:prstGeom>
          <a:noFill/>
        </p:spPr>
        <p:txBody>
          <a:bodyPr wrap="square" rtlCol="0">
            <a:spAutoFit/>
          </a:bodyPr>
          <a:lstStyle/>
          <a:p>
            <a:r>
              <a:rPr lang="en-US" b="1" dirty="0"/>
              <a:t>Eckart-Young Theorem:</a:t>
            </a:r>
          </a:p>
          <a:p>
            <a:r>
              <a:rPr lang="en-US" i="1" dirty="0"/>
              <a:t>The optimal rank-r approximation to A, in a least-square sense, is given by the rank-r SVD truncation,</a:t>
            </a:r>
          </a:p>
        </p:txBody>
      </p:sp>
      <p:pic>
        <p:nvPicPr>
          <p:cNvPr id="13" name="Picture 12">
            <a:extLst>
              <a:ext uri="{FF2B5EF4-FFF2-40B4-BE49-F238E27FC236}">
                <a16:creationId xmlns:a16="http://schemas.microsoft.com/office/drawing/2014/main" id="{3C12E3CC-DADF-2413-EFBE-39893452245B}"/>
              </a:ext>
            </a:extLst>
          </p:cNvPr>
          <p:cNvPicPr>
            <a:picLocks noChangeAspect="1"/>
          </p:cNvPicPr>
          <p:nvPr/>
        </p:nvPicPr>
        <p:blipFill>
          <a:blip r:embed="rId5"/>
          <a:stretch>
            <a:fillRect/>
          </a:stretch>
        </p:blipFill>
        <p:spPr>
          <a:xfrm>
            <a:off x="1761093" y="4391109"/>
            <a:ext cx="4660900" cy="359072"/>
          </a:xfrm>
          <a:prstGeom prst="rect">
            <a:avLst/>
          </a:prstGeom>
        </p:spPr>
      </p:pic>
      <p:pic>
        <p:nvPicPr>
          <p:cNvPr id="14" name="Picture 13">
            <a:extLst>
              <a:ext uri="{FF2B5EF4-FFF2-40B4-BE49-F238E27FC236}">
                <a16:creationId xmlns:a16="http://schemas.microsoft.com/office/drawing/2014/main" id="{7A37B05E-C9BE-0B3E-8D86-FA0C00AA3EE7}"/>
              </a:ext>
            </a:extLst>
          </p:cNvPr>
          <p:cNvPicPr>
            <a:picLocks noChangeAspect="1"/>
          </p:cNvPicPr>
          <p:nvPr/>
        </p:nvPicPr>
        <p:blipFill>
          <a:blip r:embed="rId6"/>
          <a:stretch>
            <a:fillRect/>
          </a:stretch>
        </p:blipFill>
        <p:spPr>
          <a:xfrm>
            <a:off x="7377667" y="1508347"/>
            <a:ext cx="1062812" cy="628329"/>
          </a:xfrm>
          <a:prstGeom prst="rect">
            <a:avLst/>
          </a:prstGeom>
        </p:spPr>
      </p:pic>
      <p:sp>
        <p:nvSpPr>
          <p:cNvPr id="15" name="TextBox 14">
            <a:extLst>
              <a:ext uri="{FF2B5EF4-FFF2-40B4-BE49-F238E27FC236}">
                <a16:creationId xmlns:a16="http://schemas.microsoft.com/office/drawing/2014/main" id="{D2DF7BFA-99AD-EAB1-1F48-F5FF99C3299A}"/>
              </a:ext>
            </a:extLst>
          </p:cNvPr>
          <p:cNvSpPr txBox="1"/>
          <p:nvPr/>
        </p:nvSpPr>
        <p:spPr>
          <a:xfrm>
            <a:off x="5997202" y="1522880"/>
            <a:ext cx="1301349" cy="307777"/>
          </a:xfrm>
          <a:prstGeom prst="rect">
            <a:avLst/>
          </a:prstGeom>
          <a:noFill/>
        </p:spPr>
        <p:txBody>
          <a:bodyPr wrap="square" rtlCol="0">
            <a:spAutoFit/>
          </a:bodyPr>
          <a:lstStyle/>
          <a:p>
            <a:r>
              <a:rPr lang="en-US" dirty="0"/>
              <a:t>Relative error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Principal Component Analysis (PCA)</a:t>
            </a:r>
            <a:endParaRPr dirty="0">
              <a:solidFill>
                <a:srgbClr val="FFFFFF"/>
              </a:solidFill>
              <a:latin typeface="Montserrat"/>
              <a:ea typeface="Montserrat"/>
              <a:cs typeface="Montserrat"/>
              <a:sym typeface="Montserrat"/>
            </a:endParaRPr>
          </a:p>
        </p:txBody>
      </p:sp>
      <p:pic>
        <p:nvPicPr>
          <p:cNvPr id="3" name="Picture 2" descr="A collage of images of planets and a bicycle&#10;&#10;Description automatically generated">
            <a:extLst>
              <a:ext uri="{FF2B5EF4-FFF2-40B4-BE49-F238E27FC236}">
                <a16:creationId xmlns:a16="http://schemas.microsoft.com/office/drawing/2014/main" id="{318256A8-95C2-EF90-A704-1D15A4786A5C}"/>
              </a:ext>
            </a:extLst>
          </p:cNvPr>
          <p:cNvPicPr>
            <a:picLocks noChangeAspect="1"/>
          </p:cNvPicPr>
          <p:nvPr/>
        </p:nvPicPr>
        <p:blipFill>
          <a:blip r:embed="rId3"/>
          <a:stretch>
            <a:fillRect/>
          </a:stretch>
        </p:blipFill>
        <p:spPr>
          <a:xfrm>
            <a:off x="1237653" y="1017725"/>
            <a:ext cx="5588449" cy="4003896"/>
          </a:xfrm>
          <a:prstGeom prst="rect">
            <a:avLst/>
          </a:prstGeom>
        </p:spPr>
      </p:pic>
    </p:spTree>
    <p:extLst>
      <p:ext uri="{BB962C8B-B14F-4D97-AF65-F5344CB8AC3E}">
        <p14:creationId xmlns:p14="http://schemas.microsoft.com/office/powerpoint/2010/main" val="2157925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Principal Component Analysis (PCA)</a:t>
            </a:r>
            <a:endParaRPr dirty="0">
              <a:solidFill>
                <a:srgbClr val="FFFFFF"/>
              </a:solidFill>
              <a:latin typeface="Montserrat"/>
              <a:ea typeface="Montserrat"/>
              <a:cs typeface="Montserrat"/>
              <a:sym typeface="Montserrat"/>
            </a:endParaRPr>
          </a:p>
        </p:txBody>
      </p:sp>
      <p:pic>
        <p:nvPicPr>
          <p:cNvPr id="3" name="Picture 2" descr="A white text with black text&#10;&#10;Description automatically generated">
            <a:extLst>
              <a:ext uri="{FF2B5EF4-FFF2-40B4-BE49-F238E27FC236}">
                <a16:creationId xmlns:a16="http://schemas.microsoft.com/office/drawing/2014/main" id="{2730E2FC-A413-2BC1-3EEE-0EA7BC9C39DE}"/>
              </a:ext>
            </a:extLst>
          </p:cNvPr>
          <p:cNvPicPr>
            <a:picLocks noChangeAspect="1"/>
          </p:cNvPicPr>
          <p:nvPr/>
        </p:nvPicPr>
        <p:blipFill>
          <a:blip r:embed="rId3"/>
          <a:stretch>
            <a:fillRect/>
          </a:stretch>
        </p:blipFill>
        <p:spPr>
          <a:xfrm>
            <a:off x="1143350" y="1038244"/>
            <a:ext cx="6857299" cy="4105256"/>
          </a:xfrm>
          <a:prstGeom prst="rect">
            <a:avLst/>
          </a:prstGeom>
        </p:spPr>
      </p:pic>
    </p:spTree>
    <p:extLst>
      <p:ext uri="{BB962C8B-B14F-4D97-AF65-F5344CB8AC3E}">
        <p14:creationId xmlns:p14="http://schemas.microsoft.com/office/powerpoint/2010/main" val="3218125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Data Correlation</a:t>
            </a:r>
            <a:endParaRPr dirty="0">
              <a:solidFill>
                <a:srgbClr val="FFFFFF"/>
              </a:solidFill>
              <a:latin typeface="Montserrat"/>
              <a:ea typeface="Montserrat"/>
              <a:cs typeface="Montserrat"/>
              <a:sym typeface="Montserrat"/>
            </a:endParaRPr>
          </a:p>
        </p:txBody>
      </p:sp>
      <p:sp>
        <p:nvSpPr>
          <p:cNvPr id="3" name="TextBox 2">
            <a:extLst>
              <a:ext uri="{FF2B5EF4-FFF2-40B4-BE49-F238E27FC236}">
                <a16:creationId xmlns:a16="http://schemas.microsoft.com/office/drawing/2014/main" id="{08B590BE-C392-EB40-833C-E31E203DA47F}"/>
              </a:ext>
            </a:extLst>
          </p:cNvPr>
          <p:cNvSpPr txBox="1"/>
          <p:nvPr/>
        </p:nvSpPr>
        <p:spPr>
          <a:xfrm>
            <a:off x="790164" y="1218617"/>
            <a:ext cx="3179702" cy="307777"/>
          </a:xfrm>
          <a:prstGeom prst="rect">
            <a:avLst/>
          </a:prstGeom>
          <a:noFill/>
        </p:spPr>
        <p:txBody>
          <a:bodyPr wrap="square" rtlCol="0">
            <a:spAutoFit/>
          </a:bodyPr>
          <a:lstStyle/>
          <a:p>
            <a:r>
              <a:rPr lang="en-US" dirty="0"/>
              <a:t>Correlation coefficient</a:t>
            </a:r>
          </a:p>
        </p:txBody>
      </p:sp>
      <p:pic>
        <p:nvPicPr>
          <p:cNvPr id="4" name="Picture 3">
            <a:extLst>
              <a:ext uri="{FF2B5EF4-FFF2-40B4-BE49-F238E27FC236}">
                <a16:creationId xmlns:a16="http://schemas.microsoft.com/office/drawing/2014/main" id="{BB6DE7FB-5669-8064-F999-EF1B32B0A627}"/>
              </a:ext>
            </a:extLst>
          </p:cNvPr>
          <p:cNvPicPr>
            <a:picLocks noChangeAspect="1"/>
          </p:cNvPicPr>
          <p:nvPr/>
        </p:nvPicPr>
        <p:blipFill>
          <a:blip r:embed="rId3"/>
          <a:stretch>
            <a:fillRect/>
          </a:stretch>
        </p:blipFill>
        <p:spPr>
          <a:xfrm>
            <a:off x="3257986" y="1111307"/>
            <a:ext cx="3887093" cy="632476"/>
          </a:xfrm>
          <a:prstGeom prst="rect">
            <a:avLst/>
          </a:prstGeom>
        </p:spPr>
      </p:pic>
      <p:pic>
        <p:nvPicPr>
          <p:cNvPr id="8" name="Picture 7" descr="A graph with blue dots&#10;&#10;Description automatically generated">
            <a:extLst>
              <a:ext uri="{FF2B5EF4-FFF2-40B4-BE49-F238E27FC236}">
                <a16:creationId xmlns:a16="http://schemas.microsoft.com/office/drawing/2014/main" id="{E9B30ECC-EAE4-8EFA-2D6B-F7F735C30B70}"/>
              </a:ext>
            </a:extLst>
          </p:cNvPr>
          <p:cNvPicPr>
            <a:picLocks noChangeAspect="1"/>
          </p:cNvPicPr>
          <p:nvPr/>
        </p:nvPicPr>
        <p:blipFill>
          <a:blip r:embed="rId4"/>
          <a:stretch>
            <a:fillRect/>
          </a:stretch>
        </p:blipFill>
        <p:spPr>
          <a:xfrm>
            <a:off x="311700" y="2027703"/>
            <a:ext cx="2360723" cy="1897180"/>
          </a:xfrm>
          <a:prstGeom prst="rect">
            <a:avLst/>
          </a:prstGeom>
        </p:spPr>
      </p:pic>
      <p:pic>
        <p:nvPicPr>
          <p:cNvPr id="10" name="Picture 9" descr="A graph with blue dots&#10;&#10;Description automatically generated">
            <a:extLst>
              <a:ext uri="{FF2B5EF4-FFF2-40B4-BE49-F238E27FC236}">
                <a16:creationId xmlns:a16="http://schemas.microsoft.com/office/drawing/2014/main" id="{6A6B75CF-0B23-B7D9-FE31-443FDBE985AD}"/>
              </a:ext>
            </a:extLst>
          </p:cNvPr>
          <p:cNvPicPr>
            <a:picLocks noChangeAspect="1"/>
          </p:cNvPicPr>
          <p:nvPr/>
        </p:nvPicPr>
        <p:blipFill>
          <a:blip r:embed="rId5"/>
          <a:stretch>
            <a:fillRect/>
          </a:stretch>
        </p:blipFill>
        <p:spPr>
          <a:xfrm>
            <a:off x="3178008" y="2050795"/>
            <a:ext cx="2579563" cy="1932239"/>
          </a:xfrm>
          <a:prstGeom prst="rect">
            <a:avLst/>
          </a:prstGeom>
        </p:spPr>
      </p:pic>
      <p:pic>
        <p:nvPicPr>
          <p:cNvPr id="17" name="Picture 16" descr="A graph with blue dots&#10;&#10;Description automatically generated">
            <a:extLst>
              <a:ext uri="{FF2B5EF4-FFF2-40B4-BE49-F238E27FC236}">
                <a16:creationId xmlns:a16="http://schemas.microsoft.com/office/drawing/2014/main" id="{0671695D-9091-F29D-F811-BC42C9D1AA1E}"/>
              </a:ext>
            </a:extLst>
          </p:cNvPr>
          <p:cNvPicPr>
            <a:picLocks noChangeAspect="1"/>
          </p:cNvPicPr>
          <p:nvPr/>
        </p:nvPicPr>
        <p:blipFill>
          <a:blip r:embed="rId6"/>
          <a:stretch>
            <a:fillRect/>
          </a:stretch>
        </p:blipFill>
        <p:spPr>
          <a:xfrm>
            <a:off x="6146198" y="2050795"/>
            <a:ext cx="2423063" cy="1874088"/>
          </a:xfrm>
          <a:prstGeom prst="rect">
            <a:avLst/>
          </a:prstGeom>
        </p:spPr>
      </p:pic>
    </p:spTree>
    <p:extLst>
      <p:ext uri="{BB962C8B-B14F-4D97-AF65-F5344CB8AC3E}">
        <p14:creationId xmlns:p14="http://schemas.microsoft.com/office/powerpoint/2010/main" val="790538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Principal Component Analysis (PCA)</a:t>
            </a:r>
            <a:endParaRPr dirty="0">
              <a:solidFill>
                <a:srgbClr val="FFFFFF"/>
              </a:solidFill>
              <a:latin typeface="Montserrat"/>
              <a:ea typeface="Montserrat"/>
              <a:cs typeface="Montserrat"/>
              <a:sym typeface="Montserrat"/>
            </a:endParaRPr>
          </a:p>
        </p:txBody>
      </p:sp>
      <p:pic>
        <p:nvPicPr>
          <p:cNvPr id="7" name="Picture 6" descr="A table of numbers with text&#10;&#10;Description automatically generated with medium confidence">
            <a:extLst>
              <a:ext uri="{FF2B5EF4-FFF2-40B4-BE49-F238E27FC236}">
                <a16:creationId xmlns:a16="http://schemas.microsoft.com/office/drawing/2014/main" id="{12FEAE2B-C33E-3EBA-948F-BF9DBB087BF5}"/>
              </a:ext>
            </a:extLst>
          </p:cNvPr>
          <p:cNvPicPr>
            <a:picLocks noChangeAspect="1"/>
          </p:cNvPicPr>
          <p:nvPr/>
        </p:nvPicPr>
        <p:blipFill>
          <a:blip r:embed="rId3"/>
          <a:stretch>
            <a:fillRect/>
          </a:stretch>
        </p:blipFill>
        <p:spPr>
          <a:xfrm>
            <a:off x="6461318" y="1024623"/>
            <a:ext cx="2392248" cy="1161949"/>
          </a:xfrm>
          <a:prstGeom prst="rect">
            <a:avLst/>
          </a:prstGeom>
        </p:spPr>
      </p:pic>
      <p:pic>
        <p:nvPicPr>
          <p:cNvPr id="9" name="Picture 8" descr="A calendar with numbers and letters&#10;&#10;Description automatically generated">
            <a:extLst>
              <a:ext uri="{FF2B5EF4-FFF2-40B4-BE49-F238E27FC236}">
                <a16:creationId xmlns:a16="http://schemas.microsoft.com/office/drawing/2014/main" id="{41821869-4C82-D577-9185-42E95680C412}"/>
              </a:ext>
            </a:extLst>
          </p:cNvPr>
          <p:cNvPicPr>
            <a:picLocks noChangeAspect="1"/>
          </p:cNvPicPr>
          <p:nvPr/>
        </p:nvPicPr>
        <p:blipFill>
          <a:blip r:embed="rId4"/>
          <a:stretch>
            <a:fillRect/>
          </a:stretch>
        </p:blipFill>
        <p:spPr>
          <a:xfrm>
            <a:off x="1335610" y="1024623"/>
            <a:ext cx="2598437" cy="1262097"/>
          </a:xfrm>
          <a:prstGeom prst="rect">
            <a:avLst/>
          </a:prstGeom>
        </p:spPr>
      </p:pic>
      <p:pic>
        <p:nvPicPr>
          <p:cNvPr id="18" name="Picture 17" descr="A screenshot of a computer&#10;&#10;Description automatically generated">
            <a:extLst>
              <a:ext uri="{FF2B5EF4-FFF2-40B4-BE49-F238E27FC236}">
                <a16:creationId xmlns:a16="http://schemas.microsoft.com/office/drawing/2014/main" id="{153BCDB0-5F1C-2114-C77B-322C945BDDF9}"/>
              </a:ext>
            </a:extLst>
          </p:cNvPr>
          <p:cNvPicPr>
            <a:picLocks noChangeAspect="1"/>
          </p:cNvPicPr>
          <p:nvPr/>
        </p:nvPicPr>
        <p:blipFill>
          <a:blip r:embed="rId5"/>
          <a:stretch>
            <a:fillRect/>
          </a:stretch>
        </p:blipFill>
        <p:spPr>
          <a:xfrm>
            <a:off x="946091" y="2296968"/>
            <a:ext cx="7251818" cy="2613822"/>
          </a:xfrm>
          <a:prstGeom prst="rect">
            <a:avLst/>
          </a:prstGeom>
        </p:spPr>
      </p:pic>
      <p:pic>
        <p:nvPicPr>
          <p:cNvPr id="20" name="Picture 19" descr="A graph with numbers and a few words&#10;&#10;Description automatically generated with medium confidence">
            <a:extLst>
              <a:ext uri="{FF2B5EF4-FFF2-40B4-BE49-F238E27FC236}">
                <a16:creationId xmlns:a16="http://schemas.microsoft.com/office/drawing/2014/main" id="{87F23628-5263-FE66-7425-34CB5EB6DAE6}"/>
              </a:ext>
            </a:extLst>
          </p:cNvPr>
          <p:cNvPicPr>
            <a:picLocks noChangeAspect="1"/>
          </p:cNvPicPr>
          <p:nvPr/>
        </p:nvPicPr>
        <p:blipFill>
          <a:blip r:embed="rId6"/>
          <a:stretch>
            <a:fillRect/>
          </a:stretch>
        </p:blipFill>
        <p:spPr>
          <a:xfrm>
            <a:off x="3978218" y="1014238"/>
            <a:ext cx="2527271" cy="1227532"/>
          </a:xfrm>
          <a:prstGeom prst="rect">
            <a:avLst/>
          </a:prstGeom>
        </p:spPr>
      </p:pic>
      <p:sp>
        <p:nvSpPr>
          <p:cNvPr id="21" name="TextBox 20">
            <a:extLst>
              <a:ext uri="{FF2B5EF4-FFF2-40B4-BE49-F238E27FC236}">
                <a16:creationId xmlns:a16="http://schemas.microsoft.com/office/drawing/2014/main" id="{82506C43-A26C-FA79-F8DE-18DF977A500F}"/>
              </a:ext>
            </a:extLst>
          </p:cNvPr>
          <p:cNvSpPr txBox="1"/>
          <p:nvPr/>
        </p:nvSpPr>
        <p:spPr>
          <a:xfrm>
            <a:off x="252767" y="1316044"/>
            <a:ext cx="1299586" cy="523220"/>
          </a:xfrm>
          <a:prstGeom prst="rect">
            <a:avLst/>
          </a:prstGeom>
          <a:noFill/>
        </p:spPr>
        <p:txBody>
          <a:bodyPr wrap="square" rtlCol="0">
            <a:spAutoFit/>
          </a:bodyPr>
          <a:lstStyle/>
          <a:p>
            <a:r>
              <a:rPr lang="en-US" b="1" dirty="0"/>
              <a:t>An intuitive </a:t>
            </a:r>
          </a:p>
          <a:p>
            <a:r>
              <a:rPr lang="en-US" b="1" dirty="0"/>
              <a:t>example</a:t>
            </a:r>
          </a:p>
        </p:txBody>
      </p:sp>
    </p:spTree>
    <p:extLst>
      <p:ext uri="{BB962C8B-B14F-4D97-AF65-F5344CB8AC3E}">
        <p14:creationId xmlns:p14="http://schemas.microsoft.com/office/powerpoint/2010/main" val="757495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Principal Component Analysis (PCA)</a:t>
            </a:r>
            <a:endParaRPr dirty="0">
              <a:solidFill>
                <a:srgbClr val="FFFFFF"/>
              </a:solidFill>
              <a:latin typeface="Montserrat"/>
              <a:ea typeface="Montserrat"/>
              <a:cs typeface="Montserrat"/>
              <a:sym typeface="Montserrat"/>
            </a:endParaRPr>
          </a:p>
        </p:txBody>
      </p:sp>
      <p:sp>
        <p:nvSpPr>
          <p:cNvPr id="21" name="TextBox 20">
            <a:extLst>
              <a:ext uri="{FF2B5EF4-FFF2-40B4-BE49-F238E27FC236}">
                <a16:creationId xmlns:a16="http://schemas.microsoft.com/office/drawing/2014/main" id="{82506C43-A26C-FA79-F8DE-18DF977A500F}"/>
              </a:ext>
            </a:extLst>
          </p:cNvPr>
          <p:cNvSpPr txBox="1"/>
          <p:nvPr/>
        </p:nvSpPr>
        <p:spPr>
          <a:xfrm>
            <a:off x="338940" y="1358575"/>
            <a:ext cx="1299586" cy="523220"/>
          </a:xfrm>
          <a:prstGeom prst="rect">
            <a:avLst/>
          </a:prstGeom>
          <a:noFill/>
        </p:spPr>
        <p:txBody>
          <a:bodyPr wrap="square" rtlCol="0">
            <a:spAutoFit/>
          </a:bodyPr>
          <a:lstStyle/>
          <a:p>
            <a:r>
              <a:rPr lang="en-US" b="1" dirty="0"/>
              <a:t>An intuitive </a:t>
            </a:r>
          </a:p>
          <a:p>
            <a:r>
              <a:rPr lang="en-US" b="1" dirty="0"/>
              <a:t>example</a:t>
            </a:r>
          </a:p>
        </p:txBody>
      </p:sp>
      <p:pic>
        <p:nvPicPr>
          <p:cNvPr id="3" name="Picture 2" descr="A screenshot of a computer&#10;&#10;Description automatically generated">
            <a:extLst>
              <a:ext uri="{FF2B5EF4-FFF2-40B4-BE49-F238E27FC236}">
                <a16:creationId xmlns:a16="http://schemas.microsoft.com/office/drawing/2014/main" id="{001300D9-DF21-D31D-F0EB-50D3B2920C5A}"/>
              </a:ext>
            </a:extLst>
          </p:cNvPr>
          <p:cNvPicPr>
            <a:picLocks noChangeAspect="1"/>
          </p:cNvPicPr>
          <p:nvPr/>
        </p:nvPicPr>
        <p:blipFill>
          <a:blip r:embed="rId3"/>
          <a:stretch>
            <a:fillRect/>
          </a:stretch>
        </p:blipFill>
        <p:spPr>
          <a:xfrm>
            <a:off x="1556036" y="1135290"/>
            <a:ext cx="7109500" cy="3202794"/>
          </a:xfrm>
          <a:prstGeom prst="rect">
            <a:avLst/>
          </a:prstGeom>
        </p:spPr>
      </p:pic>
      <p:sp>
        <p:nvSpPr>
          <p:cNvPr id="2" name="TextBox 1">
            <a:extLst>
              <a:ext uri="{FF2B5EF4-FFF2-40B4-BE49-F238E27FC236}">
                <a16:creationId xmlns:a16="http://schemas.microsoft.com/office/drawing/2014/main" id="{46648EF3-5605-DD8F-8AE6-CE4D35CCA290}"/>
              </a:ext>
            </a:extLst>
          </p:cNvPr>
          <p:cNvSpPr txBox="1"/>
          <p:nvPr/>
        </p:nvSpPr>
        <p:spPr>
          <a:xfrm>
            <a:off x="417679" y="4698475"/>
            <a:ext cx="2441694" cy="230832"/>
          </a:xfrm>
          <a:prstGeom prst="rect">
            <a:avLst/>
          </a:prstGeom>
          <a:noFill/>
        </p:spPr>
        <p:txBody>
          <a:bodyPr wrap="none" rtlCol="0">
            <a:spAutoFit/>
          </a:bodyPr>
          <a:lstStyle/>
          <a:p>
            <a:r>
              <a:rPr lang="en-US" sz="900" dirty="0">
                <a:solidFill>
                  <a:srgbClr val="0070C0"/>
                </a:solidFill>
              </a:rPr>
              <a:t>Example reference </a:t>
            </a:r>
            <a:r>
              <a:rPr lang="en-US" sz="900" dirty="0" err="1">
                <a:solidFill>
                  <a:srgbClr val="0070C0"/>
                </a:solidFill>
              </a:rPr>
              <a:t>youtube</a:t>
            </a:r>
            <a:r>
              <a:rPr lang="en-US" sz="900" dirty="0">
                <a:solidFill>
                  <a:srgbClr val="0070C0"/>
                </a:solidFill>
              </a:rPr>
              <a:t>: </a:t>
            </a:r>
            <a:r>
              <a:rPr lang="en-US" sz="900" dirty="0" err="1">
                <a:solidFill>
                  <a:srgbClr val="0070C0"/>
                </a:solidFill>
              </a:rPr>
              <a:t>StatQuest</a:t>
            </a:r>
            <a:r>
              <a:rPr lang="en-US" sz="900" dirty="0">
                <a:solidFill>
                  <a:srgbClr val="0070C0"/>
                </a:solidFill>
              </a:rPr>
              <a:t> PCA</a:t>
            </a:r>
            <a:endParaRPr lang="en-US" sz="1000" dirty="0">
              <a:solidFill>
                <a:srgbClr val="0070C0"/>
              </a:solidFill>
            </a:endParaRPr>
          </a:p>
        </p:txBody>
      </p:sp>
    </p:spTree>
    <p:extLst>
      <p:ext uri="{BB962C8B-B14F-4D97-AF65-F5344CB8AC3E}">
        <p14:creationId xmlns:p14="http://schemas.microsoft.com/office/powerpoint/2010/main" val="986970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Principal Component Analysis (PCA)</a:t>
            </a:r>
            <a:endParaRPr dirty="0">
              <a:solidFill>
                <a:srgbClr val="FFFFFF"/>
              </a:solidFill>
              <a:latin typeface="Montserrat"/>
              <a:ea typeface="Montserrat"/>
              <a:cs typeface="Montserrat"/>
              <a:sym typeface="Montserrat"/>
            </a:endParaRPr>
          </a:p>
        </p:txBody>
      </p:sp>
      <p:sp>
        <p:nvSpPr>
          <p:cNvPr id="21" name="TextBox 20">
            <a:extLst>
              <a:ext uri="{FF2B5EF4-FFF2-40B4-BE49-F238E27FC236}">
                <a16:creationId xmlns:a16="http://schemas.microsoft.com/office/drawing/2014/main" id="{82506C43-A26C-FA79-F8DE-18DF977A500F}"/>
              </a:ext>
            </a:extLst>
          </p:cNvPr>
          <p:cNvSpPr txBox="1"/>
          <p:nvPr/>
        </p:nvSpPr>
        <p:spPr>
          <a:xfrm>
            <a:off x="338940" y="1358575"/>
            <a:ext cx="1299586" cy="523220"/>
          </a:xfrm>
          <a:prstGeom prst="rect">
            <a:avLst/>
          </a:prstGeom>
          <a:noFill/>
        </p:spPr>
        <p:txBody>
          <a:bodyPr wrap="square" rtlCol="0">
            <a:spAutoFit/>
          </a:bodyPr>
          <a:lstStyle/>
          <a:p>
            <a:r>
              <a:rPr lang="en-US" b="1" dirty="0"/>
              <a:t>An intuitive </a:t>
            </a:r>
          </a:p>
          <a:p>
            <a:r>
              <a:rPr lang="en-US" b="1" dirty="0"/>
              <a:t>example</a:t>
            </a:r>
          </a:p>
        </p:txBody>
      </p:sp>
      <p:pic>
        <p:nvPicPr>
          <p:cNvPr id="4" name="Picture 3" descr="A screenshot of a graph&#10;&#10;Description automatically generated">
            <a:extLst>
              <a:ext uri="{FF2B5EF4-FFF2-40B4-BE49-F238E27FC236}">
                <a16:creationId xmlns:a16="http://schemas.microsoft.com/office/drawing/2014/main" id="{6D9802AA-445A-C1F1-818E-F9A0212B251D}"/>
              </a:ext>
            </a:extLst>
          </p:cNvPr>
          <p:cNvPicPr>
            <a:picLocks noChangeAspect="1"/>
          </p:cNvPicPr>
          <p:nvPr/>
        </p:nvPicPr>
        <p:blipFill>
          <a:blip r:embed="rId3"/>
          <a:stretch>
            <a:fillRect/>
          </a:stretch>
        </p:blipFill>
        <p:spPr>
          <a:xfrm>
            <a:off x="1437514" y="1358575"/>
            <a:ext cx="7384153" cy="3158335"/>
          </a:xfrm>
          <a:prstGeom prst="rect">
            <a:avLst/>
          </a:prstGeom>
        </p:spPr>
      </p:pic>
    </p:spTree>
    <p:extLst>
      <p:ext uri="{BB962C8B-B14F-4D97-AF65-F5344CB8AC3E}">
        <p14:creationId xmlns:p14="http://schemas.microsoft.com/office/powerpoint/2010/main" val="3069207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Principal Component Analysis (PCA)</a:t>
            </a:r>
            <a:endParaRPr dirty="0">
              <a:solidFill>
                <a:srgbClr val="FFFFFF"/>
              </a:solidFill>
              <a:latin typeface="Montserrat"/>
              <a:ea typeface="Montserrat"/>
              <a:cs typeface="Montserrat"/>
              <a:sym typeface="Montserrat"/>
            </a:endParaRPr>
          </a:p>
        </p:txBody>
      </p:sp>
      <p:sp>
        <p:nvSpPr>
          <p:cNvPr id="21" name="TextBox 20">
            <a:extLst>
              <a:ext uri="{FF2B5EF4-FFF2-40B4-BE49-F238E27FC236}">
                <a16:creationId xmlns:a16="http://schemas.microsoft.com/office/drawing/2014/main" id="{82506C43-A26C-FA79-F8DE-18DF977A500F}"/>
              </a:ext>
            </a:extLst>
          </p:cNvPr>
          <p:cNvSpPr txBox="1"/>
          <p:nvPr/>
        </p:nvSpPr>
        <p:spPr>
          <a:xfrm>
            <a:off x="427544" y="1358575"/>
            <a:ext cx="1299586" cy="523220"/>
          </a:xfrm>
          <a:prstGeom prst="rect">
            <a:avLst/>
          </a:prstGeom>
          <a:noFill/>
        </p:spPr>
        <p:txBody>
          <a:bodyPr wrap="square" rtlCol="0">
            <a:spAutoFit/>
          </a:bodyPr>
          <a:lstStyle/>
          <a:p>
            <a:r>
              <a:rPr lang="en-US" b="1" dirty="0"/>
              <a:t>An intuitive </a:t>
            </a:r>
          </a:p>
          <a:p>
            <a:r>
              <a:rPr lang="en-US" b="1" dirty="0"/>
              <a:t>example</a:t>
            </a:r>
          </a:p>
        </p:txBody>
      </p:sp>
      <p:pic>
        <p:nvPicPr>
          <p:cNvPr id="3" name="Picture 2" descr="A screenshot of a computer&#10;&#10;Description automatically generated">
            <a:extLst>
              <a:ext uri="{FF2B5EF4-FFF2-40B4-BE49-F238E27FC236}">
                <a16:creationId xmlns:a16="http://schemas.microsoft.com/office/drawing/2014/main" id="{FE827BF9-D8D8-05B0-E726-EC98E3BB7B82}"/>
              </a:ext>
            </a:extLst>
          </p:cNvPr>
          <p:cNvPicPr>
            <a:picLocks noChangeAspect="1"/>
          </p:cNvPicPr>
          <p:nvPr/>
        </p:nvPicPr>
        <p:blipFill>
          <a:blip r:embed="rId3"/>
          <a:stretch>
            <a:fillRect/>
          </a:stretch>
        </p:blipFill>
        <p:spPr>
          <a:xfrm>
            <a:off x="1521781" y="1358575"/>
            <a:ext cx="7193562" cy="2879276"/>
          </a:xfrm>
          <a:prstGeom prst="rect">
            <a:avLst/>
          </a:prstGeom>
        </p:spPr>
      </p:pic>
      <p:sp>
        <p:nvSpPr>
          <p:cNvPr id="5" name="TextBox 4">
            <a:extLst>
              <a:ext uri="{FF2B5EF4-FFF2-40B4-BE49-F238E27FC236}">
                <a16:creationId xmlns:a16="http://schemas.microsoft.com/office/drawing/2014/main" id="{0FA70FCF-AFCC-8AA0-103F-26CF3B5D28C8}"/>
              </a:ext>
            </a:extLst>
          </p:cNvPr>
          <p:cNvSpPr txBox="1"/>
          <p:nvPr/>
        </p:nvSpPr>
        <p:spPr>
          <a:xfrm>
            <a:off x="427544" y="4436865"/>
            <a:ext cx="7089675" cy="523220"/>
          </a:xfrm>
          <a:prstGeom prst="rect">
            <a:avLst/>
          </a:prstGeom>
          <a:noFill/>
        </p:spPr>
        <p:txBody>
          <a:bodyPr wrap="square" rtlCol="0">
            <a:spAutoFit/>
          </a:bodyPr>
          <a:lstStyle/>
          <a:p>
            <a:r>
              <a:rPr lang="en-US" dirty="0"/>
              <a:t>What if we have 100 dimensional, or even more features. We cannot visualize data in a 100-D graph</a:t>
            </a:r>
          </a:p>
        </p:txBody>
      </p:sp>
    </p:spTree>
    <p:extLst>
      <p:ext uri="{BB962C8B-B14F-4D97-AF65-F5344CB8AC3E}">
        <p14:creationId xmlns:p14="http://schemas.microsoft.com/office/powerpoint/2010/main" val="2017653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Principal Component Analysis (PCA)</a:t>
            </a:r>
            <a:endParaRPr dirty="0">
              <a:solidFill>
                <a:srgbClr val="FFFFFF"/>
              </a:solidFill>
              <a:latin typeface="Montserrat"/>
              <a:ea typeface="Montserrat"/>
              <a:cs typeface="Montserrat"/>
              <a:sym typeface="Montserrat"/>
            </a:endParaRPr>
          </a:p>
        </p:txBody>
      </p:sp>
      <p:pic>
        <p:nvPicPr>
          <p:cNvPr id="4" name="Picture 3" descr="A screenshot of a computer&#10;&#10;Description automatically generated">
            <a:extLst>
              <a:ext uri="{FF2B5EF4-FFF2-40B4-BE49-F238E27FC236}">
                <a16:creationId xmlns:a16="http://schemas.microsoft.com/office/drawing/2014/main" id="{5FBD4F57-17C2-682F-D264-A9ED87E0585F}"/>
              </a:ext>
            </a:extLst>
          </p:cNvPr>
          <p:cNvPicPr>
            <a:picLocks noChangeAspect="1"/>
          </p:cNvPicPr>
          <p:nvPr/>
        </p:nvPicPr>
        <p:blipFill>
          <a:blip r:embed="rId3"/>
          <a:stretch>
            <a:fillRect/>
          </a:stretch>
        </p:blipFill>
        <p:spPr>
          <a:xfrm>
            <a:off x="876717" y="1443635"/>
            <a:ext cx="7772400" cy="3139724"/>
          </a:xfrm>
          <a:prstGeom prst="rect">
            <a:avLst/>
          </a:prstGeom>
        </p:spPr>
      </p:pic>
      <p:sp>
        <p:nvSpPr>
          <p:cNvPr id="6" name="TextBox 5">
            <a:extLst>
              <a:ext uri="{FF2B5EF4-FFF2-40B4-BE49-F238E27FC236}">
                <a16:creationId xmlns:a16="http://schemas.microsoft.com/office/drawing/2014/main" id="{2E8FDAB0-9DA8-1D13-20B5-AFF296B7B8B7}"/>
              </a:ext>
            </a:extLst>
          </p:cNvPr>
          <p:cNvSpPr txBox="1"/>
          <p:nvPr/>
        </p:nvSpPr>
        <p:spPr>
          <a:xfrm>
            <a:off x="494883" y="1358575"/>
            <a:ext cx="1299586" cy="523220"/>
          </a:xfrm>
          <a:prstGeom prst="rect">
            <a:avLst/>
          </a:prstGeom>
          <a:noFill/>
        </p:spPr>
        <p:txBody>
          <a:bodyPr wrap="square" rtlCol="0">
            <a:spAutoFit/>
          </a:bodyPr>
          <a:lstStyle/>
          <a:p>
            <a:r>
              <a:rPr lang="en-US" b="1" dirty="0"/>
              <a:t>An intuitive </a:t>
            </a:r>
          </a:p>
          <a:p>
            <a:r>
              <a:rPr lang="en-US" b="1" dirty="0"/>
              <a:t>example</a:t>
            </a:r>
          </a:p>
        </p:txBody>
      </p:sp>
    </p:spTree>
    <p:extLst>
      <p:ext uri="{BB962C8B-B14F-4D97-AF65-F5344CB8AC3E}">
        <p14:creationId xmlns:p14="http://schemas.microsoft.com/office/powerpoint/2010/main" val="2297536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Principal Component Analysis (PCA)</a:t>
            </a:r>
            <a:endParaRPr dirty="0">
              <a:solidFill>
                <a:srgbClr val="FFFFFF"/>
              </a:solidFill>
              <a:latin typeface="Montserrat"/>
              <a:ea typeface="Montserrat"/>
              <a:cs typeface="Montserrat"/>
              <a:sym typeface="Montserrat"/>
            </a:endParaRPr>
          </a:p>
        </p:txBody>
      </p:sp>
      <p:sp>
        <p:nvSpPr>
          <p:cNvPr id="6" name="TextBox 5">
            <a:extLst>
              <a:ext uri="{FF2B5EF4-FFF2-40B4-BE49-F238E27FC236}">
                <a16:creationId xmlns:a16="http://schemas.microsoft.com/office/drawing/2014/main" id="{2E8FDAB0-9DA8-1D13-20B5-AFF296B7B8B7}"/>
              </a:ext>
            </a:extLst>
          </p:cNvPr>
          <p:cNvSpPr txBox="1"/>
          <p:nvPr/>
        </p:nvSpPr>
        <p:spPr>
          <a:xfrm>
            <a:off x="494882" y="1358576"/>
            <a:ext cx="4970253" cy="307777"/>
          </a:xfrm>
          <a:prstGeom prst="rect">
            <a:avLst/>
          </a:prstGeom>
          <a:noFill/>
        </p:spPr>
        <p:txBody>
          <a:bodyPr wrap="square" rtlCol="0">
            <a:spAutoFit/>
          </a:bodyPr>
          <a:lstStyle/>
          <a:p>
            <a:r>
              <a:rPr lang="en-US" dirty="0"/>
              <a:t>Mean subtraction: shift data to origin (scaling, normalization)</a:t>
            </a:r>
          </a:p>
        </p:txBody>
      </p:sp>
      <p:pic>
        <p:nvPicPr>
          <p:cNvPr id="7" name="Picture 6" descr="A diagram of a gene&#10;&#10;Description automatically generated">
            <a:extLst>
              <a:ext uri="{FF2B5EF4-FFF2-40B4-BE49-F238E27FC236}">
                <a16:creationId xmlns:a16="http://schemas.microsoft.com/office/drawing/2014/main" id="{2C6667A4-3875-6C3A-20B4-98945307AAD0}"/>
              </a:ext>
            </a:extLst>
          </p:cNvPr>
          <p:cNvPicPr>
            <a:picLocks noChangeAspect="1"/>
          </p:cNvPicPr>
          <p:nvPr/>
        </p:nvPicPr>
        <p:blipFill>
          <a:blip r:embed="rId3"/>
          <a:stretch>
            <a:fillRect/>
          </a:stretch>
        </p:blipFill>
        <p:spPr>
          <a:xfrm>
            <a:off x="716285" y="2007204"/>
            <a:ext cx="2769718" cy="2148220"/>
          </a:xfrm>
          <a:prstGeom prst="rect">
            <a:avLst/>
          </a:prstGeom>
        </p:spPr>
      </p:pic>
      <p:pic>
        <p:nvPicPr>
          <p:cNvPr id="9" name="Picture 8" descr="A diagram of a gene&#10;&#10;Description automatically generated">
            <a:extLst>
              <a:ext uri="{FF2B5EF4-FFF2-40B4-BE49-F238E27FC236}">
                <a16:creationId xmlns:a16="http://schemas.microsoft.com/office/drawing/2014/main" id="{2B711CC7-AD30-F1D8-FED0-82F4AA0D3C9E}"/>
              </a:ext>
            </a:extLst>
          </p:cNvPr>
          <p:cNvPicPr>
            <a:picLocks noChangeAspect="1"/>
          </p:cNvPicPr>
          <p:nvPr/>
        </p:nvPicPr>
        <p:blipFill>
          <a:blip r:embed="rId4"/>
          <a:stretch>
            <a:fillRect/>
          </a:stretch>
        </p:blipFill>
        <p:spPr>
          <a:xfrm>
            <a:off x="4170463" y="1916927"/>
            <a:ext cx="4511020" cy="2261220"/>
          </a:xfrm>
          <a:prstGeom prst="rect">
            <a:avLst/>
          </a:prstGeom>
        </p:spPr>
      </p:pic>
    </p:spTree>
    <p:extLst>
      <p:ext uri="{BB962C8B-B14F-4D97-AF65-F5344CB8AC3E}">
        <p14:creationId xmlns:p14="http://schemas.microsoft.com/office/powerpoint/2010/main" val="423245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Principal Component Analysis (PCA)</a:t>
            </a:r>
            <a:endParaRPr dirty="0">
              <a:solidFill>
                <a:srgbClr val="FFFFFF"/>
              </a:solidFill>
              <a:latin typeface="Montserrat"/>
              <a:ea typeface="Montserrat"/>
              <a:cs typeface="Montserrat"/>
              <a:sym typeface="Montserrat"/>
            </a:endParaRPr>
          </a:p>
        </p:txBody>
      </p:sp>
      <p:pic>
        <p:nvPicPr>
          <p:cNvPr id="3" name="Picture 2" descr="A diagram of a graph&#10;&#10;Description automatically generated">
            <a:extLst>
              <a:ext uri="{FF2B5EF4-FFF2-40B4-BE49-F238E27FC236}">
                <a16:creationId xmlns:a16="http://schemas.microsoft.com/office/drawing/2014/main" id="{CB02DF2D-F52C-CEDE-0E52-F421451A408F}"/>
              </a:ext>
            </a:extLst>
          </p:cNvPr>
          <p:cNvPicPr>
            <a:picLocks noChangeAspect="1"/>
          </p:cNvPicPr>
          <p:nvPr/>
        </p:nvPicPr>
        <p:blipFill>
          <a:blip r:embed="rId3"/>
          <a:stretch>
            <a:fillRect/>
          </a:stretch>
        </p:blipFill>
        <p:spPr>
          <a:xfrm>
            <a:off x="4433776" y="1284451"/>
            <a:ext cx="4398523" cy="1320200"/>
          </a:xfrm>
          <a:prstGeom prst="rect">
            <a:avLst/>
          </a:prstGeom>
        </p:spPr>
      </p:pic>
      <p:sp>
        <p:nvSpPr>
          <p:cNvPr id="4" name="TextBox 3">
            <a:extLst>
              <a:ext uri="{FF2B5EF4-FFF2-40B4-BE49-F238E27FC236}">
                <a16:creationId xmlns:a16="http://schemas.microsoft.com/office/drawing/2014/main" id="{29DC6FD7-00B2-FD37-214F-29A3E338BB37}"/>
              </a:ext>
            </a:extLst>
          </p:cNvPr>
          <p:cNvSpPr txBox="1"/>
          <p:nvPr/>
        </p:nvSpPr>
        <p:spPr>
          <a:xfrm>
            <a:off x="4572000" y="1063131"/>
            <a:ext cx="2502009" cy="307777"/>
          </a:xfrm>
          <a:prstGeom prst="rect">
            <a:avLst/>
          </a:prstGeom>
          <a:noFill/>
        </p:spPr>
        <p:txBody>
          <a:bodyPr wrap="square" rtlCol="0">
            <a:spAutoFit/>
          </a:bodyPr>
          <a:lstStyle/>
          <a:p>
            <a:r>
              <a:rPr lang="en-US" dirty="0"/>
              <a:t>Find a line best fit the data. </a:t>
            </a:r>
          </a:p>
        </p:txBody>
      </p:sp>
      <p:pic>
        <p:nvPicPr>
          <p:cNvPr id="10" name="Picture 9" descr="A diagram of a crossword puzzle&#10;&#10;Description automatically generated">
            <a:extLst>
              <a:ext uri="{FF2B5EF4-FFF2-40B4-BE49-F238E27FC236}">
                <a16:creationId xmlns:a16="http://schemas.microsoft.com/office/drawing/2014/main" id="{6A33175F-9223-2494-8AF2-E588FB790A28}"/>
              </a:ext>
            </a:extLst>
          </p:cNvPr>
          <p:cNvPicPr>
            <a:picLocks noChangeAspect="1"/>
          </p:cNvPicPr>
          <p:nvPr/>
        </p:nvPicPr>
        <p:blipFill>
          <a:blip r:embed="rId4"/>
          <a:stretch>
            <a:fillRect/>
          </a:stretch>
        </p:blipFill>
        <p:spPr>
          <a:xfrm>
            <a:off x="601438" y="1509548"/>
            <a:ext cx="3318286" cy="1320200"/>
          </a:xfrm>
          <a:prstGeom prst="rect">
            <a:avLst/>
          </a:prstGeom>
        </p:spPr>
      </p:pic>
      <p:sp>
        <p:nvSpPr>
          <p:cNvPr id="11" name="TextBox 10">
            <a:extLst>
              <a:ext uri="{FF2B5EF4-FFF2-40B4-BE49-F238E27FC236}">
                <a16:creationId xmlns:a16="http://schemas.microsoft.com/office/drawing/2014/main" id="{298FF77F-1618-7471-2875-620031F1F3F7}"/>
              </a:ext>
            </a:extLst>
          </p:cNvPr>
          <p:cNvSpPr txBox="1"/>
          <p:nvPr/>
        </p:nvSpPr>
        <p:spPr>
          <a:xfrm>
            <a:off x="691116" y="1144093"/>
            <a:ext cx="2906129" cy="307777"/>
          </a:xfrm>
          <a:prstGeom prst="rect">
            <a:avLst/>
          </a:prstGeom>
          <a:noFill/>
        </p:spPr>
        <p:txBody>
          <a:bodyPr wrap="square" rtlCol="0">
            <a:spAutoFit/>
          </a:bodyPr>
          <a:lstStyle/>
          <a:p>
            <a:r>
              <a:rPr lang="en-US" dirty="0"/>
              <a:t>PCA projects data onto this line</a:t>
            </a:r>
          </a:p>
        </p:txBody>
      </p:sp>
      <p:sp>
        <p:nvSpPr>
          <p:cNvPr id="12" name="TextBox 11">
            <a:extLst>
              <a:ext uri="{FF2B5EF4-FFF2-40B4-BE49-F238E27FC236}">
                <a16:creationId xmlns:a16="http://schemas.microsoft.com/office/drawing/2014/main" id="{7EE2419F-5CEE-6159-1618-BA6BD851D5DE}"/>
              </a:ext>
            </a:extLst>
          </p:cNvPr>
          <p:cNvSpPr txBox="1"/>
          <p:nvPr/>
        </p:nvSpPr>
        <p:spPr>
          <a:xfrm>
            <a:off x="4433776" y="3278522"/>
            <a:ext cx="4398523" cy="954107"/>
          </a:xfrm>
          <a:prstGeom prst="rect">
            <a:avLst/>
          </a:prstGeom>
          <a:noFill/>
        </p:spPr>
        <p:txBody>
          <a:bodyPr wrap="square" rtlCol="0">
            <a:spAutoFit/>
          </a:bodyPr>
          <a:lstStyle/>
          <a:p>
            <a:pPr marL="342900" indent="-342900">
              <a:buAutoNum type="arabicPeriod"/>
            </a:pPr>
            <a:r>
              <a:rPr lang="en-US" dirty="0"/>
              <a:t>Minimize the distance between the data and its projection</a:t>
            </a:r>
          </a:p>
          <a:p>
            <a:pPr marL="342900" indent="-342900">
              <a:buAutoNum type="arabicPeriod"/>
            </a:pPr>
            <a:r>
              <a:rPr lang="en-US" dirty="0"/>
              <a:t>Maximize the distance from the projected points to the origin (most variation)</a:t>
            </a:r>
          </a:p>
        </p:txBody>
      </p:sp>
      <p:pic>
        <p:nvPicPr>
          <p:cNvPr id="14" name="Picture 13" descr="A diagram of a graph&#10;&#10;Description automatically generated with medium confidence">
            <a:extLst>
              <a:ext uri="{FF2B5EF4-FFF2-40B4-BE49-F238E27FC236}">
                <a16:creationId xmlns:a16="http://schemas.microsoft.com/office/drawing/2014/main" id="{A28CA818-1A6E-5260-026F-1446500C9BE9}"/>
              </a:ext>
            </a:extLst>
          </p:cNvPr>
          <p:cNvPicPr>
            <a:picLocks noChangeAspect="1"/>
          </p:cNvPicPr>
          <p:nvPr/>
        </p:nvPicPr>
        <p:blipFill>
          <a:blip r:embed="rId5"/>
          <a:stretch>
            <a:fillRect/>
          </a:stretch>
        </p:blipFill>
        <p:spPr>
          <a:xfrm>
            <a:off x="601438" y="2912428"/>
            <a:ext cx="3338621" cy="1620925"/>
          </a:xfrm>
          <a:prstGeom prst="rect">
            <a:avLst/>
          </a:prstGeom>
        </p:spPr>
      </p:pic>
      <p:sp>
        <p:nvSpPr>
          <p:cNvPr id="15" name="TextBox 14">
            <a:extLst>
              <a:ext uri="{FF2B5EF4-FFF2-40B4-BE49-F238E27FC236}">
                <a16:creationId xmlns:a16="http://schemas.microsoft.com/office/drawing/2014/main" id="{6361F325-BC54-63DF-6233-EC2949143FF2}"/>
              </a:ext>
            </a:extLst>
          </p:cNvPr>
          <p:cNvSpPr txBox="1"/>
          <p:nvPr/>
        </p:nvSpPr>
        <p:spPr>
          <a:xfrm>
            <a:off x="5036474" y="2604651"/>
            <a:ext cx="3506088" cy="307777"/>
          </a:xfrm>
          <a:prstGeom prst="rect">
            <a:avLst/>
          </a:prstGeom>
          <a:noFill/>
        </p:spPr>
        <p:txBody>
          <a:bodyPr wrap="none" rtlCol="0">
            <a:spAutoFit/>
          </a:bodyPr>
          <a:lstStyle/>
          <a:p>
            <a:r>
              <a:rPr lang="en-US" dirty="0"/>
              <a:t>It has the largest sum of squared distance</a:t>
            </a:r>
          </a:p>
        </p:txBody>
      </p:sp>
    </p:spTree>
    <p:extLst>
      <p:ext uri="{BB962C8B-B14F-4D97-AF65-F5344CB8AC3E}">
        <p14:creationId xmlns:p14="http://schemas.microsoft.com/office/powerpoint/2010/main" val="4056288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Principal Component Analysis (PCA)</a:t>
            </a:r>
            <a:endParaRPr dirty="0">
              <a:solidFill>
                <a:srgbClr val="FFFFFF"/>
              </a:solidFill>
              <a:latin typeface="Montserrat"/>
              <a:ea typeface="Montserrat"/>
              <a:cs typeface="Montserrat"/>
              <a:sym typeface="Montserrat"/>
            </a:endParaRPr>
          </a:p>
        </p:txBody>
      </p:sp>
      <p:pic>
        <p:nvPicPr>
          <p:cNvPr id="5" name="Picture 4" descr="A diagram of a line with green circles and red dotted line&#10;&#10;Description automatically generated">
            <a:extLst>
              <a:ext uri="{FF2B5EF4-FFF2-40B4-BE49-F238E27FC236}">
                <a16:creationId xmlns:a16="http://schemas.microsoft.com/office/drawing/2014/main" id="{3A339F3D-07F4-A839-F04D-D039810042CB}"/>
              </a:ext>
            </a:extLst>
          </p:cNvPr>
          <p:cNvPicPr>
            <a:picLocks noChangeAspect="1"/>
          </p:cNvPicPr>
          <p:nvPr/>
        </p:nvPicPr>
        <p:blipFill>
          <a:blip r:embed="rId3"/>
          <a:stretch>
            <a:fillRect/>
          </a:stretch>
        </p:blipFill>
        <p:spPr>
          <a:xfrm>
            <a:off x="5697912" y="1103303"/>
            <a:ext cx="2809147" cy="1363861"/>
          </a:xfrm>
          <a:prstGeom prst="rect">
            <a:avLst/>
          </a:prstGeom>
        </p:spPr>
      </p:pic>
      <p:sp>
        <p:nvSpPr>
          <p:cNvPr id="6" name="TextBox 5">
            <a:extLst>
              <a:ext uri="{FF2B5EF4-FFF2-40B4-BE49-F238E27FC236}">
                <a16:creationId xmlns:a16="http://schemas.microsoft.com/office/drawing/2014/main" id="{F886E286-891E-EDE1-8433-F5ADF982C016}"/>
              </a:ext>
            </a:extLst>
          </p:cNvPr>
          <p:cNvSpPr txBox="1"/>
          <p:nvPr/>
        </p:nvSpPr>
        <p:spPr>
          <a:xfrm>
            <a:off x="680483" y="1207889"/>
            <a:ext cx="4880344" cy="1600438"/>
          </a:xfrm>
          <a:prstGeom prst="rect">
            <a:avLst/>
          </a:prstGeom>
          <a:noFill/>
        </p:spPr>
        <p:txBody>
          <a:bodyPr wrap="square" rtlCol="0">
            <a:spAutoFit/>
          </a:bodyPr>
          <a:lstStyle/>
          <a:p>
            <a:r>
              <a:rPr lang="en-US" dirty="0"/>
              <a:t>This line is called Principal Component 1 (PC1)</a:t>
            </a:r>
          </a:p>
          <a:p>
            <a:endParaRPr lang="en-US" dirty="0"/>
          </a:p>
          <a:p>
            <a:pPr marL="285750" indent="-285750">
              <a:buFont typeface="Arial" panose="020B0604020202020204" pitchFamily="34" charset="0"/>
              <a:buChar char="•"/>
            </a:pPr>
            <a:r>
              <a:rPr lang="en-US" dirty="0"/>
              <a:t>To make PC1, mix 4 parts Gene1 with 1 part Gene 2.</a:t>
            </a:r>
          </a:p>
          <a:p>
            <a:pPr marL="285750" indent="-285750">
              <a:buFont typeface="Arial" panose="020B0604020202020204" pitchFamily="34" charset="0"/>
              <a:buChar char="•"/>
            </a:pPr>
            <a:r>
              <a:rPr lang="en-US" dirty="0"/>
              <a:t>Mathematically, it’s a linear combination of Gene1 and Gene2</a:t>
            </a:r>
          </a:p>
          <a:p>
            <a:pPr marL="285750" indent="-285750">
              <a:buFont typeface="Arial" panose="020B0604020202020204" pitchFamily="34" charset="0"/>
              <a:buChar char="•"/>
            </a:pPr>
            <a:r>
              <a:rPr lang="en-US" dirty="0"/>
              <a:t>Scale the distance to 1,  PC1 vector (0.97, 0.242)</a:t>
            </a:r>
          </a:p>
          <a:p>
            <a:r>
              <a:rPr lang="en-US" dirty="0"/>
              <a:t>      also name as Singular vector, or eigenvector of PC1</a:t>
            </a:r>
          </a:p>
        </p:txBody>
      </p:sp>
      <p:pic>
        <p:nvPicPr>
          <p:cNvPr id="8" name="Picture 7" descr="A diagram of a line graph&#10;&#10;Description automatically generated">
            <a:extLst>
              <a:ext uri="{FF2B5EF4-FFF2-40B4-BE49-F238E27FC236}">
                <a16:creationId xmlns:a16="http://schemas.microsoft.com/office/drawing/2014/main" id="{37824724-B978-739F-1492-4DE75AFA1CB0}"/>
              </a:ext>
            </a:extLst>
          </p:cNvPr>
          <p:cNvPicPr>
            <a:picLocks noChangeAspect="1"/>
          </p:cNvPicPr>
          <p:nvPr/>
        </p:nvPicPr>
        <p:blipFill>
          <a:blip r:embed="rId4"/>
          <a:stretch>
            <a:fillRect/>
          </a:stretch>
        </p:blipFill>
        <p:spPr>
          <a:xfrm>
            <a:off x="6000315" y="2571750"/>
            <a:ext cx="2463202" cy="1468447"/>
          </a:xfrm>
          <a:prstGeom prst="rect">
            <a:avLst/>
          </a:prstGeom>
        </p:spPr>
      </p:pic>
      <p:sp>
        <p:nvSpPr>
          <p:cNvPr id="17" name="TextBox 16">
            <a:extLst>
              <a:ext uri="{FF2B5EF4-FFF2-40B4-BE49-F238E27FC236}">
                <a16:creationId xmlns:a16="http://schemas.microsoft.com/office/drawing/2014/main" id="{B54C72EB-16E6-13EA-DCC7-C75369C40FEF}"/>
              </a:ext>
            </a:extLst>
          </p:cNvPr>
          <p:cNvSpPr txBox="1"/>
          <p:nvPr/>
        </p:nvSpPr>
        <p:spPr>
          <a:xfrm>
            <a:off x="703514" y="2903261"/>
            <a:ext cx="4880344" cy="307777"/>
          </a:xfrm>
          <a:prstGeom prst="rect">
            <a:avLst/>
          </a:prstGeom>
          <a:noFill/>
        </p:spPr>
        <p:txBody>
          <a:bodyPr wrap="square" rtlCol="0">
            <a:spAutoFit/>
          </a:bodyPr>
          <a:lstStyle/>
          <a:p>
            <a:r>
              <a:rPr lang="en-US" dirty="0"/>
              <a:t>Similarly, PC2 can be found. It is perpendicular to PC1.</a:t>
            </a:r>
          </a:p>
        </p:txBody>
      </p:sp>
      <p:pic>
        <p:nvPicPr>
          <p:cNvPr id="18" name="Picture 17" descr="A diagram of a graph&#10;&#10;Description automatically generated">
            <a:extLst>
              <a:ext uri="{FF2B5EF4-FFF2-40B4-BE49-F238E27FC236}">
                <a16:creationId xmlns:a16="http://schemas.microsoft.com/office/drawing/2014/main" id="{0E978BC3-A93B-31ED-2B2D-E3768E1F1028}"/>
              </a:ext>
            </a:extLst>
          </p:cNvPr>
          <p:cNvPicPr>
            <a:picLocks noChangeAspect="1"/>
          </p:cNvPicPr>
          <p:nvPr/>
        </p:nvPicPr>
        <p:blipFill>
          <a:blip r:embed="rId5"/>
          <a:stretch>
            <a:fillRect/>
          </a:stretch>
        </p:blipFill>
        <p:spPr>
          <a:xfrm>
            <a:off x="1167405" y="3308166"/>
            <a:ext cx="2800714" cy="1788408"/>
          </a:xfrm>
          <a:prstGeom prst="rect">
            <a:avLst/>
          </a:prstGeom>
        </p:spPr>
      </p:pic>
      <p:sp>
        <p:nvSpPr>
          <p:cNvPr id="19" name="TextBox 18">
            <a:extLst>
              <a:ext uri="{FF2B5EF4-FFF2-40B4-BE49-F238E27FC236}">
                <a16:creationId xmlns:a16="http://schemas.microsoft.com/office/drawing/2014/main" id="{B72F2018-13B7-0442-3028-224C3E3D5279}"/>
              </a:ext>
            </a:extLst>
          </p:cNvPr>
          <p:cNvSpPr txBox="1"/>
          <p:nvPr/>
        </p:nvSpPr>
        <p:spPr>
          <a:xfrm>
            <a:off x="3968119" y="4407223"/>
            <a:ext cx="2463202" cy="307777"/>
          </a:xfrm>
          <a:prstGeom prst="rect">
            <a:avLst/>
          </a:prstGeom>
          <a:noFill/>
        </p:spPr>
        <p:txBody>
          <a:bodyPr wrap="square" rtlCol="0">
            <a:spAutoFit/>
          </a:bodyPr>
          <a:lstStyle/>
          <a:p>
            <a:r>
              <a:rPr lang="en-US" dirty="0"/>
              <a:t>Data plotted in the PC axis</a:t>
            </a:r>
          </a:p>
        </p:txBody>
      </p:sp>
    </p:spTree>
    <p:extLst>
      <p:ext uri="{BB962C8B-B14F-4D97-AF65-F5344CB8AC3E}">
        <p14:creationId xmlns:p14="http://schemas.microsoft.com/office/powerpoint/2010/main" val="590708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Principal Component Analysis (PCA)</a:t>
            </a:r>
            <a:endParaRPr dirty="0">
              <a:solidFill>
                <a:srgbClr val="FFFFFF"/>
              </a:solidFill>
              <a:latin typeface="Montserrat"/>
              <a:ea typeface="Montserrat"/>
              <a:cs typeface="Montserrat"/>
              <a:sym typeface="Montserrat"/>
            </a:endParaRPr>
          </a:p>
        </p:txBody>
      </p:sp>
      <p:sp>
        <p:nvSpPr>
          <p:cNvPr id="7" name="TextBox 6">
            <a:extLst>
              <a:ext uri="{FF2B5EF4-FFF2-40B4-BE49-F238E27FC236}">
                <a16:creationId xmlns:a16="http://schemas.microsoft.com/office/drawing/2014/main" id="{B3DE81C4-AB05-EF99-4B2A-E68C33B5A619}"/>
              </a:ext>
            </a:extLst>
          </p:cNvPr>
          <p:cNvSpPr txBox="1"/>
          <p:nvPr/>
        </p:nvSpPr>
        <p:spPr>
          <a:xfrm>
            <a:off x="533252" y="1210140"/>
            <a:ext cx="4880344" cy="523220"/>
          </a:xfrm>
          <a:prstGeom prst="rect">
            <a:avLst/>
          </a:prstGeom>
          <a:noFill/>
        </p:spPr>
        <p:txBody>
          <a:bodyPr wrap="square" rtlCol="0">
            <a:spAutoFit/>
          </a:bodyPr>
          <a:lstStyle/>
          <a:p>
            <a:pPr marL="285750" indent="-285750">
              <a:buFont typeface="Arial" panose="020B0604020202020204" pitchFamily="34" charset="0"/>
              <a:buChar char="•"/>
            </a:pPr>
            <a:r>
              <a:rPr lang="en-US" dirty="0"/>
              <a:t>Eigenvalues measure the variation for each PC (distance between projected points to the origin).</a:t>
            </a:r>
          </a:p>
        </p:txBody>
      </p:sp>
      <p:pic>
        <p:nvPicPr>
          <p:cNvPr id="12" name="Picture 11" descr="A diagram of a graph&#10;&#10;Description automatically generated">
            <a:extLst>
              <a:ext uri="{FF2B5EF4-FFF2-40B4-BE49-F238E27FC236}">
                <a16:creationId xmlns:a16="http://schemas.microsoft.com/office/drawing/2014/main" id="{4C9FD0DE-6BB0-47EC-3ADE-ED8130386708}"/>
              </a:ext>
            </a:extLst>
          </p:cNvPr>
          <p:cNvPicPr>
            <a:picLocks noChangeAspect="1"/>
          </p:cNvPicPr>
          <p:nvPr/>
        </p:nvPicPr>
        <p:blipFill>
          <a:blip r:embed="rId3"/>
          <a:stretch>
            <a:fillRect/>
          </a:stretch>
        </p:blipFill>
        <p:spPr>
          <a:xfrm>
            <a:off x="3688443" y="2997076"/>
            <a:ext cx="5115881" cy="2050731"/>
          </a:xfrm>
          <a:prstGeom prst="rect">
            <a:avLst/>
          </a:prstGeom>
        </p:spPr>
      </p:pic>
      <p:sp>
        <p:nvSpPr>
          <p:cNvPr id="13" name="TextBox 12">
            <a:extLst>
              <a:ext uri="{FF2B5EF4-FFF2-40B4-BE49-F238E27FC236}">
                <a16:creationId xmlns:a16="http://schemas.microsoft.com/office/drawing/2014/main" id="{8E0744B7-D07D-0541-8BDE-29E1179681EF}"/>
              </a:ext>
            </a:extLst>
          </p:cNvPr>
          <p:cNvSpPr txBox="1"/>
          <p:nvPr/>
        </p:nvSpPr>
        <p:spPr>
          <a:xfrm>
            <a:off x="533252" y="1954275"/>
            <a:ext cx="4880344" cy="954107"/>
          </a:xfrm>
          <a:prstGeom prst="rect">
            <a:avLst/>
          </a:prstGeom>
          <a:noFill/>
        </p:spPr>
        <p:txBody>
          <a:bodyPr wrap="square" rtlCol="0">
            <a:spAutoFit/>
          </a:bodyPr>
          <a:lstStyle/>
          <a:p>
            <a:pPr marL="285750" indent="-285750">
              <a:buFont typeface="Arial" panose="020B0604020202020204" pitchFamily="34" charset="0"/>
              <a:buChar char="•"/>
            </a:pPr>
            <a:r>
              <a:rPr lang="en-US" dirty="0"/>
              <a:t>PC1 would span the direction of the most variation.</a:t>
            </a:r>
          </a:p>
          <a:p>
            <a:r>
              <a:rPr lang="en-US" dirty="0"/>
              <a:t>      PC2 would span the direction of the 2nd most variation. </a:t>
            </a:r>
          </a:p>
          <a:p>
            <a:r>
              <a:rPr lang="en-US" dirty="0"/>
              <a:t>      …</a:t>
            </a:r>
          </a:p>
          <a:p>
            <a:r>
              <a:rPr lang="en-US" dirty="0"/>
              <a:t>      </a:t>
            </a:r>
            <a:r>
              <a:rPr lang="en-US" dirty="0" err="1"/>
              <a:t>PCn</a:t>
            </a:r>
            <a:r>
              <a:rPr lang="en-US" dirty="0"/>
              <a:t> would span the direction of the n-</a:t>
            </a:r>
            <a:r>
              <a:rPr lang="en-US" dirty="0" err="1"/>
              <a:t>th</a:t>
            </a:r>
            <a:r>
              <a:rPr lang="en-US" dirty="0"/>
              <a:t> most variation.</a:t>
            </a:r>
          </a:p>
        </p:txBody>
      </p:sp>
      <p:sp>
        <p:nvSpPr>
          <p:cNvPr id="14" name="TextBox 13">
            <a:extLst>
              <a:ext uri="{FF2B5EF4-FFF2-40B4-BE49-F238E27FC236}">
                <a16:creationId xmlns:a16="http://schemas.microsoft.com/office/drawing/2014/main" id="{724E3F3B-919F-586D-A65E-5203ED0A2CC4}"/>
              </a:ext>
            </a:extLst>
          </p:cNvPr>
          <p:cNvSpPr txBox="1"/>
          <p:nvPr/>
        </p:nvSpPr>
        <p:spPr>
          <a:xfrm>
            <a:off x="5639177" y="1523387"/>
            <a:ext cx="3193123" cy="1384995"/>
          </a:xfrm>
          <a:prstGeom prst="rect">
            <a:avLst/>
          </a:prstGeom>
          <a:noFill/>
        </p:spPr>
        <p:txBody>
          <a:bodyPr wrap="square" rtlCol="0">
            <a:spAutoFit/>
          </a:bodyPr>
          <a:lstStyle/>
          <a:p>
            <a:pPr marL="285750" indent="-285750">
              <a:buFont typeface="Arial" panose="020B0604020202020204" pitchFamily="34" charset="0"/>
              <a:buChar char="•"/>
            </a:pPr>
            <a:r>
              <a:rPr lang="en-US" dirty="0"/>
              <a:t>Ex. Variation for PC1 (singular value)= 15, the variation for PC2 = 3.  Total variation is 18. PC1 accounts 15/18=83% of the total variation. PC1 accounts 3/18= 17%.</a:t>
            </a:r>
          </a:p>
        </p:txBody>
      </p:sp>
    </p:spTree>
    <p:extLst>
      <p:ext uri="{BB962C8B-B14F-4D97-AF65-F5344CB8AC3E}">
        <p14:creationId xmlns:p14="http://schemas.microsoft.com/office/powerpoint/2010/main" val="4111344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PCA algorithm</a:t>
            </a:r>
            <a:endParaRPr dirty="0">
              <a:solidFill>
                <a:srgbClr val="FFFFFF"/>
              </a:solidFill>
              <a:latin typeface="Montserrat"/>
              <a:ea typeface="Montserrat"/>
              <a:cs typeface="Montserrat"/>
              <a:sym typeface="Montserrat"/>
            </a:endParaRPr>
          </a:p>
        </p:txBody>
      </p:sp>
      <p:sp>
        <p:nvSpPr>
          <p:cNvPr id="13" name="TextBox 12">
            <a:extLst>
              <a:ext uri="{FF2B5EF4-FFF2-40B4-BE49-F238E27FC236}">
                <a16:creationId xmlns:a16="http://schemas.microsoft.com/office/drawing/2014/main" id="{8E0744B7-D07D-0541-8BDE-29E1179681EF}"/>
              </a:ext>
            </a:extLst>
          </p:cNvPr>
          <p:cNvSpPr txBox="1"/>
          <p:nvPr/>
        </p:nvSpPr>
        <p:spPr>
          <a:xfrm>
            <a:off x="628945" y="1359819"/>
            <a:ext cx="965643" cy="338554"/>
          </a:xfrm>
          <a:prstGeom prst="rect">
            <a:avLst/>
          </a:prstGeom>
          <a:noFill/>
        </p:spPr>
        <p:txBody>
          <a:bodyPr wrap="square" rtlCol="0">
            <a:spAutoFit/>
          </a:bodyPr>
          <a:lstStyle/>
          <a:p>
            <a:r>
              <a:rPr lang="en-US" sz="1600" dirty="0"/>
              <a:t>Dataset </a:t>
            </a:r>
          </a:p>
        </p:txBody>
      </p:sp>
      <p:pic>
        <p:nvPicPr>
          <p:cNvPr id="2" name="Picture 1">
            <a:extLst>
              <a:ext uri="{FF2B5EF4-FFF2-40B4-BE49-F238E27FC236}">
                <a16:creationId xmlns:a16="http://schemas.microsoft.com/office/drawing/2014/main" id="{E3EAE545-D020-CFA7-E231-672E3CC8AF7F}"/>
              </a:ext>
            </a:extLst>
          </p:cNvPr>
          <p:cNvPicPr>
            <a:picLocks noChangeAspect="1"/>
          </p:cNvPicPr>
          <p:nvPr/>
        </p:nvPicPr>
        <p:blipFill>
          <a:blip r:embed="rId3"/>
          <a:stretch>
            <a:fillRect/>
          </a:stretch>
        </p:blipFill>
        <p:spPr>
          <a:xfrm>
            <a:off x="1594588" y="1804852"/>
            <a:ext cx="1555012" cy="290583"/>
          </a:xfrm>
          <a:prstGeom prst="rect">
            <a:avLst/>
          </a:prstGeom>
        </p:spPr>
      </p:pic>
      <p:pic>
        <p:nvPicPr>
          <p:cNvPr id="3" name="Picture 2">
            <a:extLst>
              <a:ext uri="{FF2B5EF4-FFF2-40B4-BE49-F238E27FC236}">
                <a16:creationId xmlns:a16="http://schemas.microsoft.com/office/drawing/2014/main" id="{6CD597F4-6A6C-5584-9891-09B7F2AAE239}"/>
              </a:ext>
            </a:extLst>
          </p:cNvPr>
          <p:cNvPicPr>
            <a:picLocks noChangeAspect="1"/>
          </p:cNvPicPr>
          <p:nvPr/>
        </p:nvPicPr>
        <p:blipFill>
          <a:blip r:embed="rId4"/>
          <a:stretch>
            <a:fillRect/>
          </a:stretch>
        </p:blipFill>
        <p:spPr>
          <a:xfrm>
            <a:off x="3723315" y="1816494"/>
            <a:ext cx="2359689" cy="278941"/>
          </a:xfrm>
          <a:prstGeom prst="rect">
            <a:avLst/>
          </a:prstGeom>
        </p:spPr>
      </p:pic>
      <p:pic>
        <p:nvPicPr>
          <p:cNvPr id="4" name="Picture 3">
            <a:extLst>
              <a:ext uri="{FF2B5EF4-FFF2-40B4-BE49-F238E27FC236}">
                <a16:creationId xmlns:a16="http://schemas.microsoft.com/office/drawing/2014/main" id="{1B6FFEDD-E2A2-5DA9-44D9-43A9066244BD}"/>
              </a:ext>
            </a:extLst>
          </p:cNvPr>
          <p:cNvPicPr>
            <a:picLocks noChangeAspect="1"/>
          </p:cNvPicPr>
          <p:nvPr/>
        </p:nvPicPr>
        <p:blipFill>
          <a:blip r:embed="rId5"/>
          <a:stretch>
            <a:fillRect/>
          </a:stretch>
        </p:blipFill>
        <p:spPr>
          <a:xfrm>
            <a:off x="6656719" y="1654485"/>
            <a:ext cx="1604778" cy="659224"/>
          </a:xfrm>
          <a:prstGeom prst="rect">
            <a:avLst/>
          </a:prstGeom>
        </p:spPr>
      </p:pic>
      <p:pic>
        <p:nvPicPr>
          <p:cNvPr id="5" name="Picture 4">
            <a:extLst>
              <a:ext uri="{FF2B5EF4-FFF2-40B4-BE49-F238E27FC236}">
                <a16:creationId xmlns:a16="http://schemas.microsoft.com/office/drawing/2014/main" id="{7D5072E2-B2C8-765C-AEA4-31753631092A}"/>
              </a:ext>
            </a:extLst>
          </p:cNvPr>
          <p:cNvPicPr>
            <a:picLocks noChangeAspect="1"/>
          </p:cNvPicPr>
          <p:nvPr/>
        </p:nvPicPr>
        <p:blipFill>
          <a:blip r:embed="rId6"/>
          <a:stretch>
            <a:fillRect/>
          </a:stretch>
        </p:blipFill>
        <p:spPr>
          <a:xfrm>
            <a:off x="3464589" y="2613763"/>
            <a:ext cx="1637415" cy="280441"/>
          </a:xfrm>
          <a:prstGeom prst="rect">
            <a:avLst/>
          </a:prstGeom>
        </p:spPr>
      </p:pic>
      <p:sp>
        <p:nvSpPr>
          <p:cNvPr id="6" name="TextBox 5">
            <a:extLst>
              <a:ext uri="{FF2B5EF4-FFF2-40B4-BE49-F238E27FC236}">
                <a16:creationId xmlns:a16="http://schemas.microsoft.com/office/drawing/2014/main" id="{14486455-2B28-D55A-EDCC-9B843E93F0D1}"/>
              </a:ext>
            </a:extLst>
          </p:cNvPr>
          <p:cNvSpPr txBox="1"/>
          <p:nvPr/>
        </p:nvSpPr>
        <p:spPr>
          <a:xfrm>
            <a:off x="628945" y="2654875"/>
            <a:ext cx="1784647" cy="338554"/>
          </a:xfrm>
          <a:prstGeom prst="rect">
            <a:avLst/>
          </a:prstGeom>
          <a:noFill/>
        </p:spPr>
        <p:txBody>
          <a:bodyPr wrap="square" rtlCol="0">
            <a:spAutoFit/>
          </a:bodyPr>
          <a:lstStyle/>
          <a:p>
            <a:r>
              <a:rPr lang="en-US" sz="1600" dirty="0"/>
              <a:t>Centered dataset </a:t>
            </a:r>
          </a:p>
        </p:txBody>
      </p:sp>
      <p:sp>
        <p:nvSpPr>
          <p:cNvPr id="9" name="TextBox 8">
            <a:extLst>
              <a:ext uri="{FF2B5EF4-FFF2-40B4-BE49-F238E27FC236}">
                <a16:creationId xmlns:a16="http://schemas.microsoft.com/office/drawing/2014/main" id="{C849AA8C-D595-944A-143B-6FA9DD4A00C9}"/>
              </a:ext>
            </a:extLst>
          </p:cNvPr>
          <p:cNvSpPr txBox="1"/>
          <p:nvPr/>
        </p:nvSpPr>
        <p:spPr>
          <a:xfrm>
            <a:off x="628945" y="3368203"/>
            <a:ext cx="2433232" cy="338554"/>
          </a:xfrm>
          <a:prstGeom prst="rect">
            <a:avLst/>
          </a:prstGeom>
          <a:noFill/>
        </p:spPr>
        <p:txBody>
          <a:bodyPr wrap="square" rtlCol="0">
            <a:spAutoFit/>
          </a:bodyPr>
          <a:lstStyle/>
          <a:p>
            <a:r>
              <a:rPr lang="en-US" sz="1600" dirty="0"/>
              <a:t>Covariance matrix of A</a:t>
            </a:r>
          </a:p>
        </p:txBody>
      </p:sp>
      <p:pic>
        <p:nvPicPr>
          <p:cNvPr id="10" name="Picture 9">
            <a:extLst>
              <a:ext uri="{FF2B5EF4-FFF2-40B4-BE49-F238E27FC236}">
                <a16:creationId xmlns:a16="http://schemas.microsoft.com/office/drawing/2014/main" id="{879F84FC-35CC-7129-32DB-38D92E325F3C}"/>
              </a:ext>
            </a:extLst>
          </p:cNvPr>
          <p:cNvPicPr>
            <a:picLocks noChangeAspect="1"/>
          </p:cNvPicPr>
          <p:nvPr/>
        </p:nvPicPr>
        <p:blipFill>
          <a:blip r:embed="rId7"/>
          <a:stretch>
            <a:fillRect/>
          </a:stretch>
        </p:blipFill>
        <p:spPr>
          <a:xfrm>
            <a:off x="3464589" y="3301455"/>
            <a:ext cx="1880623" cy="572700"/>
          </a:xfrm>
          <a:prstGeom prst="rect">
            <a:avLst/>
          </a:prstGeom>
        </p:spPr>
      </p:pic>
      <p:sp>
        <p:nvSpPr>
          <p:cNvPr id="7" name="TextBox 6">
            <a:extLst>
              <a:ext uri="{FF2B5EF4-FFF2-40B4-BE49-F238E27FC236}">
                <a16:creationId xmlns:a16="http://schemas.microsoft.com/office/drawing/2014/main" id="{FE95E63C-B5FC-B7AB-69C6-6EB1587DA038}"/>
              </a:ext>
            </a:extLst>
          </p:cNvPr>
          <p:cNvSpPr txBox="1"/>
          <p:nvPr/>
        </p:nvSpPr>
        <p:spPr>
          <a:xfrm>
            <a:off x="613596" y="3951633"/>
            <a:ext cx="5469408"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Symmetric positive semi-definite</a:t>
            </a:r>
          </a:p>
          <a:p>
            <a:pPr marL="285750" indent="-285750">
              <a:buFont typeface="Arial" panose="020B0604020202020204" pitchFamily="34" charset="0"/>
              <a:buChar char="•"/>
            </a:pPr>
            <a:r>
              <a:rPr lang="en-US" sz="1600" dirty="0"/>
              <a:t>Non-negative real eigenvalues</a:t>
            </a:r>
          </a:p>
          <a:p>
            <a:pPr marL="285750" indent="-285750">
              <a:buFont typeface="Arial" panose="020B0604020202020204" pitchFamily="34" charset="0"/>
              <a:buChar char="•"/>
            </a:pPr>
            <a:r>
              <a:rPr lang="en-US" sz="1600" dirty="0"/>
              <a:t>Each entry       quantifies the correlation of the </a:t>
            </a:r>
            <a:r>
              <a:rPr lang="en-US" sz="1600" dirty="0" err="1"/>
              <a:t>i-th</a:t>
            </a:r>
            <a:r>
              <a:rPr lang="en-US" sz="1600" dirty="0"/>
              <a:t> and j-</a:t>
            </a:r>
            <a:r>
              <a:rPr lang="en-US" sz="1600" dirty="0" err="1"/>
              <a:t>th</a:t>
            </a:r>
            <a:r>
              <a:rPr lang="en-US" sz="1600" dirty="0"/>
              <a:t> features across all experiments</a:t>
            </a:r>
          </a:p>
        </p:txBody>
      </p:sp>
      <p:pic>
        <p:nvPicPr>
          <p:cNvPr id="8" name="Picture 7">
            <a:extLst>
              <a:ext uri="{FF2B5EF4-FFF2-40B4-BE49-F238E27FC236}">
                <a16:creationId xmlns:a16="http://schemas.microsoft.com/office/drawing/2014/main" id="{CBD734D2-DE95-49F8-E70F-A92174F2E3B5}"/>
              </a:ext>
            </a:extLst>
          </p:cNvPr>
          <p:cNvPicPr>
            <a:picLocks noChangeAspect="1"/>
          </p:cNvPicPr>
          <p:nvPr/>
        </p:nvPicPr>
        <p:blipFill>
          <a:blip r:embed="rId8"/>
          <a:stretch>
            <a:fillRect/>
          </a:stretch>
        </p:blipFill>
        <p:spPr>
          <a:xfrm>
            <a:off x="2064931" y="4530453"/>
            <a:ext cx="307163" cy="247066"/>
          </a:xfrm>
          <a:prstGeom prst="rect">
            <a:avLst/>
          </a:prstGeom>
        </p:spPr>
      </p:pic>
    </p:spTree>
    <p:extLst>
      <p:ext uri="{BB962C8B-B14F-4D97-AF65-F5344CB8AC3E}">
        <p14:creationId xmlns:p14="http://schemas.microsoft.com/office/powerpoint/2010/main" val="3275683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PCA algorithm</a:t>
            </a:r>
            <a:endParaRPr dirty="0">
              <a:solidFill>
                <a:srgbClr val="FFFFFF"/>
              </a:solidFill>
              <a:latin typeface="Montserrat"/>
              <a:ea typeface="Montserrat"/>
              <a:cs typeface="Montserrat"/>
              <a:sym typeface="Montserrat"/>
            </a:endParaRPr>
          </a:p>
        </p:txBody>
      </p:sp>
      <p:sp>
        <p:nvSpPr>
          <p:cNvPr id="7" name="TextBox 6">
            <a:extLst>
              <a:ext uri="{FF2B5EF4-FFF2-40B4-BE49-F238E27FC236}">
                <a16:creationId xmlns:a16="http://schemas.microsoft.com/office/drawing/2014/main" id="{FE95E63C-B5FC-B7AB-69C6-6EB1587DA038}"/>
              </a:ext>
            </a:extLst>
          </p:cNvPr>
          <p:cNvSpPr txBox="1"/>
          <p:nvPr/>
        </p:nvSpPr>
        <p:spPr>
          <a:xfrm>
            <a:off x="612790" y="1317374"/>
            <a:ext cx="5936059" cy="2062103"/>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principal components (PCs) are the eigenvectors of C, and they define a change of coordinates in which the covariance matrix is diagonal</a:t>
            </a:r>
          </a:p>
          <a:p>
            <a:pPr marL="285750" indent="-285750">
              <a:buFont typeface="Arial" panose="020B0604020202020204" pitchFamily="34" charset="0"/>
              <a:buChar char="•"/>
            </a:pPr>
            <a:r>
              <a:rPr lang="en-US" sz="1600" dirty="0"/>
              <a:t>The columns of the eigenvector matrix V are the principal components</a:t>
            </a:r>
          </a:p>
          <a:p>
            <a:pPr marL="285750" indent="-285750">
              <a:buFont typeface="Arial" panose="020B0604020202020204" pitchFamily="34" charset="0"/>
              <a:buChar char="•"/>
            </a:pPr>
            <a:r>
              <a:rPr lang="en-US" sz="1600" dirty="0"/>
              <a:t>The elements of the diagonal matrix D are the variances of the data along these directions</a:t>
            </a:r>
          </a:p>
          <a:p>
            <a:pPr marL="285750" indent="-285750">
              <a:buFont typeface="Arial" panose="020B0604020202020204" pitchFamily="34" charset="0"/>
              <a:buChar char="•"/>
            </a:pPr>
            <a:endParaRPr lang="en-US" sz="1600" dirty="0"/>
          </a:p>
        </p:txBody>
      </p:sp>
      <p:pic>
        <p:nvPicPr>
          <p:cNvPr id="11" name="Picture 10">
            <a:extLst>
              <a:ext uri="{FF2B5EF4-FFF2-40B4-BE49-F238E27FC236}">
                <a16:creationId xmlns:a16="http://schemas.microsoft.com/office/drawing/2014/main" id="{AC115E3F-3AF4-FED8-66A6-22D8C6AEA48E}"/>
              </a:ext>
            </a:extLst>
          </p:cNvPr>
          <p:cNvPicPr>
            <a:picLocks noChangeAspect="1"/>
          </p:cNvPicPr>
          <p:nvPr/>
        </p:nvPicPr>
        <p:blipFill>
          <a:blip r:embed="rId3"/>
          <a:stretch>
            <a:fillRect/>
          </a:stretch>
        </p:blipFill>
        <p:spPr>
          <a:xfrm>
            <a:off x="1279375" y="3379477"/>
            <a:ext cx="1315778" cy="227418"/>
          </a:xfrm>
          <a:prstGeom prst="rect">
            <a:avLst/>
          </a:prstGeom>
        </p:spPr>
      </p:pic>
      <p:pic>
        <p:nvPicPr>
          <p:cNvPr id="12" name="Picture 11">
            <a:extLst>
              <a:ext uri="{FF2B5EF4-FFF2-40B4-BE49-F238E27FC236}">
                <a16:creationId xmlns:a16="http://schemas.microsoft.com/office/drawing/2014/main" id="{09A90776-91D8-9A8A-9DA8-114B2CA7CEF8}"/>
              </a:ext>
            </a:extLst>
          </p:cNvPr>
          <p:cNvPicPr>
            <a:picLocks noChangeAspect="1"/>
          </p:cNvPicPr>
          <p:nvPr/>
        </p:nvPicPr>
        <p:blipFill>
          <a:blip r:embed="rId4"/>
          <a:stretch>
            <a:fillRect/>
          </a:stretch>
        </p:blipFill>
        <p:spPr>
          <a:xfrm>
            <a:off x="3337836" y="3383491"/>
            <a:ext cx="1380192" cy="227418"/>
          </a:xfrm>
          <a:prstGeom prst="rect">
            <a:avLst/>
          </a:prstGeom>
        </p:spPr>
      </p:pic>
      <p:pic>
        <p:nvPicPr>
          <p:cNvPr id="14" name="Picture 13">
            <a:extLst>
              <a:ext uri="{FF2B5EF4-FFF2-40B4-BE49-F238E27FC236}">
                <a16:creationId xmlns:a16="http://schemas.microsoft.com/office/drawing/2014/main" id="{C4AA7B5F-2E00-5D88-4B0E-D2169222D165}"/>
              </a:ext>
            </a:extLst>
          </p:cNvPr>
          <p:cNvPicPr>
            <a:picLocks noChangeAspect="1"/>
          </p:cNvPicPr>
          <p:nvPr/>
        </p:nvPicPr>
        <p:blipFill>
          <a:blip r:embed="rId5"/>
          <a:stretch>
            <a:fillRect/>
          </a:stretch>
        </p:blipFill>
        <p:spPr>
          <a:xfrm>
            <a:off x="5471343" y="3379477"/>
            <a:ext cx="1504829" cy="243799"/>
          </a:xfrm>
          <a:prstGeom prst="rect">
            <a:avLst/>
          </a:prstGeom>
        </p:spPr>
      </p:pic>
    </p:spTree>
    <p:extLst>
      <p:ext uri="{BB962C8B-B14F-4D97-AF65-F5344CB8AC3E}">
        <p14:creationId xmlns:p14="http://schemas.microsoft.com/office/powerpoint/2010/main" val="1637338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PCA algorithm</a:t>
            </a:r>
            <a:endParaRPr dirty="0">
              <a:solidFill>
                <a:srgbClr val="FFFFFF"/>
              </a:solidFill>
              <a:latin typeface="Montserrat"/>
              <a:ea typeface="Montserrat"/>
              <a:cs typeface="Montserrat"/>
              <a:sym typeface="Montserrat"/>
            </a:endParaRPr>
          </a:p>
        </p:txBody>
      </p:sp>
      <p:sp>
        <p:nvSpPr>
          <p:cNvPr id="7" name="TextBox 6">
            <a:extLst>
              <a:ext uri="{FF2B5EF4-FFF2-40B4-BE49-F238E27FC236}">
                <a16:creationId xmlns:a16="http://schemas.microsoft.com/office/drawing/2014/main" id="{FE95E63C-B5FC-B7AB-69C6-6EB1587DA038}"/>
              </a:ext>
            </a:extLst>
          </p:cNvPr>
          <p:cNvSpPr txBox="1"/>
          <p:nvPr/>
        </p:nvSpPr>
        <p:spPr>
          <a:xfrm>
            <a:off x="581698" y="1128183"/>
            <a:ext cx="7413986" cy="338554"/>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matrix of PCs V is also the matrix of right singular vectors of dataset A</a:t>
            </a:r>
          </a:p>
        </p:txBody>
      </p:sp>
      <p:pic>
        <p:nvPicPr>
          <p:cNvPr id="16" name="Picture 15">
            <a:extLst>
              <a:ext uri="{FF2B5EF4-FFF2-40B4-BE49-F238E27FC236}">
                <a16:creationId xmlns:a16="http://schemas.microsoft.com/office/drawing/2014/main" id="{FBB3D118-8154-DAEA-1A54-2731FE594553}"/>
              </a:ext>
            </a:extLst>
          </p:cNvPr>
          <p:cNvPicPr>
            <a:picLocks noChangeAspect="1"/>
          </p:cNvPicPr>
          <p:nvPr/>
        </p:nvPicPr>
        <p:blipFill>
          <a:blip r:embed="rId3"/>
          <a:stretch>
            <a:fillRect/>
          </a:stretch>
        </p:blipFill>
        <p:spPr>
          <a:xfrm>
            <a:off x="2104364" y="1857295"/>
            <a:ext cx="3557783" cy="531871"/>
          </a:xfrm>
          <a:prstGeom prst="rect">
            <a:avLst/>
          </a:prstGeom>
        </p:spPr>
      </p:pic>
      <p:pic>
        <p:nvPicPr>
          <p:cNvPr id="2" name="Picture 1">
            <a:extLst>
              <a:ext uri="{FF2B5EF4-FFF2-40B4-BE49-F238E27FC236}">
                <a16:creationId xmlns:a16="http://schemas.microsoft.com/office/drawing/2014/main" id="{C265AC00-7C1D-0F0E-BEAC-C9C396258588}"/>
              </a:ext>
            </a:extLst>
          </p:cNvPr>
          <p:cNvPicPr>
            <a:picLocks noChangeAspect="1"/>
          </p:cNvPicPr>
          <p:nvPr/>
        </p:nvPicPr>
        <p:blipFill>
          <a:blip r:embed="rId4"/>
          <a:stretch>
            <a:fillRect/>
          </a:stretch>
        </p:blipFill>
        <p:spPr>
          <a:xfrm>
            <a:off x="2104364" y="1556018"/>
            <a:ext cx="1255524" cy="214178"/>
          </a:xfrm>
          <a:prstGeom prst="rect">
            <a:avLst/>
          </a:prstGeom>
        </p:spPr>
      </p:pic>
      <p:pic>
        <p:nvPicPr>
          <p:cNvPr id="3" name="Picture 2">
            <a:extLst>
              <a:ext uri="{FF2B5EF4-FFF2-40B4-BE49-F238E27FC236}">
                <a16:creationId xmlns:a16="http://schemas.microsoft.com/office/drawing/2014/main" id="{E4BE7305-CCA4-AAB5-6202-49C10F6AAEB2}"/>
              </a:ext>
            </a:extLst>
          </p:cNvPr>
          <p:cNvPicPr>
            <a:picLocks noChangeAspect="1"/>
          </p:cNvPicPr>
          <p:nvPr/>
        </p:nvPicPr>
        <p:blipFill>
          <a:blip r:embed="rId5"/>
          <a:stretch>
            <a:fillRect/>
          </a:stretch>
        </p:blipFill>
        <p:spPr>
          <a:xfrm>
            <a:off x="2104365" y="2430204"/>
            <a:ext cx="1354828" cy="479699"/>
          </a:xfrm>
          <a:prstGeom prst="rect">
            <a:avLst/>
          </a:prstGeom>
        </p:spPr>
      </p:pic>
      <p:sp>
        <p:nvSpPr>
          <p:cNvPr id="4" name="TextBox 3">
            <a:extLst>
              <a:ext uri="{FF2B5EF4-FFF2-40B4-BE49-F238E27FC236}">
                <a16:creationId xmlns:a16="http://schemas.microsoft.com/office/drawing/2014/main" id="{882BD132-A73F-6426-4101-23DDF893AAD6}"/>
              </a:ext>
            </a:extLst>
          </p:cNvPr>
          <p:cNvSpPr txBox="1"/>
          <p:nvPr/>
        </p:nvSpPr>
        <p:spPr>
          <a:xfrm>
            <a:off x="581698" y="2932380"/>
            <a:ext cx="7413986"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variance of the data in PC directions (coordinates), given by the diagonal elements of D, is related to the singular values of dataset matrix A</a:t>
            </a:r>
          </a:p>
        </p:txBody>
      </p:sp>
      <p:pic>
        <p:nvPicPr>
          <p:cNvPr id="5" name="Picture 4">
            <a:extLst>
              <a:ext uri="{FF2B5EF4-FFF2-40B4-BE49-F238E27FC236}">
                <a16:creationId xmlns:a16="http://schemas.microsoft.com/office/drawing/2014/main" id="{467A3A70-24E9-AFC8-7918-D4B07E21C80D}"/>
              </a:ext>
            </a:extLst>
          </p:cNvPr>
          <p:cNvPicPr>
            <a:picLocks noChangeAspect="1"/>
          </p:cNvPicPr>
          <p:nvPr/>
        </p:nvPicPr>
        <p:blipFill>
          <a:blip r:embed="rId6"/>
          <a:stretch>
            <a:fillRect/>
          </a:stretch>
        </p:blipFill>
        <p:spPr>
          <a:xfrm>
            <a:off x="2433143" y="3500903"/>
            <a:ext cx="1154758" cy="533992"/>
          </a:xfrm>
          <a:prstGeom prst="rect">
            <a:avLst/>
          </a:prstGeom>
        </p:spPr>
      </p:pic>
      <p:pic>
        <p:nvPicPr>
          <p:cNvPr id="6" name="Picture 5">
            <a:extLst>
              <a:ext uri="{FF2B5EF4-FFF2-40B4-BE49-F238E27FC236}">
                <a16:creationId xmlns:a16="http://schemas.microsoft.com/office/drawing/2014/main" id="{323F02D5-0C87-0D99-8394-5F5436BABA79}"/>
              </a:ext>
            </a:extLst>
          </p:cNvPr>
          <p:cNvPicPr>
            <a:picLocks noChangeAspect="1"/>
          </p:cNvPicPr>
          <p:nvPr/>
        </p:nvPicPr>
        <p:blipFill>
          <a:blip r:embed="rId7"/>
          <a:stretch>
            <a:fillRect/>
          </a:stretch>
        </p:blipFill>
        <p:spPr>
          <a:xfrm>
            <a:off x="3976613" y="3636239"/>
            <a:ext cx="1842759" cy="207635"/>
          </a:xfrm>
          <a:prstGeom prst="rect">
            <a:avLst/>
          </a:prstGeom>
        </p:spPr>
      </p:pic>
      <p:sp>
        <p:nvSpPr>
          <p:cNvPr id="9" name="TextBox 8">
            <a:extLst>
              <a:ext uri="{FF2B5EF4-FFF2-40B4-BE49-F238E27FC236}">
                <a16:creationId xmlns:a16="http://schemas.microsoft.com/office/drawing/2014/main" id="{29141949-0AC9-4D1F-218B-751A5260BB03}"/>
              </a:ext>
            </a:extLst>
          </p:cNvPr>
          <p:cNvSpPr txBox="1"/>
          <p:nvPr/>
        </p:nvSpPr>
        <p:spPr>
          <a:xfrm>
            <a:off x="581697" y="4075065"/>
            <a:ext cx="3706994"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t>How to choose r ?</a:t>
            </a:r>
          </a:p>
          <a:p>
            <a:r>
              <a:rPr lang="en-US" sz="1600" dirty="0"/>
              <a:t>     cumulative sum of singular values</a:t>
            </a:r>
          </a:p>
        </p:txBody>
      </p:sp>
      <p:pic>
        <p:nvPicPr>
          <p:cNvPr id="10" name="Picture 9">
            <a:extLst>
              <a:ext uri="{FF2B5EF4-FFF2-40B4-BE49-F238E27FC236}">
                <a16:creationId xmlns:a16="http://schemas.microsoft.com/office/drawing/2014/main" id="{396467F1-5DC1-B661-E4FD-8862D6B6C285}"/>
              </a:ext>
            </a:extLst>
          </p:cNvPr>
          <p:cNvPicPr>
            <a:picLocks noChangeAspect="1"/>
          </p:cNvPicPr>
          <p:nvPr/>
        </p:nvPicPr>
        <p:blipFill>
          <a:blip r:embed="rId8"/>
          <a:stretch>
            <a:fillRect/>
          </a:stretch>
        </p:blipFill>
        <p:spPr>
          <a:xfrm>
            <a:off x="4423942" y="4447431"/>
            <a:ext cx="862738" cy="623089"/>
          </a:xfrm>
          <a:prstGeom prst="rect">
            <a:avLst/>
          </a:prstGeom>
        </p:spPr>
      </p:pic>
    </p:spTree>
    <p:extLst>
      <p:ext uri="{BB962C8B-B14F-4D97-AF65-F5344CB8AC3E}">
        <p14:creationId xmlns:p14="http://schemas.microsoft.com/office/powerpoint/2010/main" val="41346967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PCA algorithm</a:t>
            </a:r>
            <a:endParaRPr dirty="0">
              <a:solidFill>
                <a:srgbClr val="FFFFFF"/>
              </a:solidFill>
              <a:latin typeface="Montserrat"/>
              <a:ea typeface="Montserrat"/>
              <a:cs typeface="Montserrat"/>
              <a:sym typeface="Montserrat"/>
            </a:endParaRPr>
          </a:p>
        </p:txBody>
      </p:sp>
      <p:pic>
        <p:nvPicPr>
          <p:cNvPr id="13" name="Picture 12" descr="A screenshot of a math problem&#10;&#10;Description automatically generated">
            <a:extLst>
              <a:ext uri="{FF2B5EF4-FFF2-40B4-BE49-F238E27FC236}">
                <a16:creationId xmlns:a16="http://schemas.microsoft.com/office/drawing/2014/main" id="{843FDDA1-4CF4-41E5-DD7E-EFB57FC597FD}"/>
              </a:ext>
            </a:extLst>
          </p:cNvPr>
          <p:cNvPicPr>
            <a:picLocks noChangeAspect="1"/>
          </p:cNvPicPr>
          <p:nvPr/>
        </p:nvPicPr>
        <p:blipFill>
          <a:blip r:embed="rId3"/>
          <a:stretch>
            <a:fillRect/>
          </a:stretch>
        </p:blipFill>
        <p:spPr>
          <a:xfrm>
            <a:off x="1060248" y="1017725"/>
            <a:ext cx="7023503" cy="4118982"/>
          </a:xfrm>
          <a:prstGeom prst="rect">
            <a:avLst/>
          </a:prstGeom>
        </p:spPr>
      </p:pic>
    </p:spTree>
    <p:extLst>
      <p:ext uri="{BB962C8B-B14F-4D97-AF65-F5344CB8AC3E}">
        <p14:creationId xmlns:p14="http://schemas.microsoft.com/office/powerpoint/2010/main" val="1503589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311700" y="445025"/>
            <a:ext cx="8520600" cy="572700"/>
          </a:xfrm>
          <a:prstGeom prst="rect">
            <a:avLst/>
          </a:prstGeom>
          <a:solidFill>
            <a:srgbClr val="073763"/>
          </a:solidFill>
        </p:spPr>
        <p:txBody>
          <a:bodyPr spcFirstLastPara="1" wrap="square" lIns="91425" tIns="91425" rIns="91425" bIns="91425" anchor="t" anchorCtr="0">
            <a:noAutofit/>
          </a:bodyPr>
          <a:lstStyle/>
          <a:p>
            <a:pPr marL="0" lvl="0" indent="0" rtl="0">
              <a:spcBef>
                <a:spcPts val="0"/>
              </a:spcBef>
              <a:spcAft>
                <a:spcPts val="0"/>
              </a:spcAft>
              <a:buNone/>
            </a:pPr>
            <a:r>
              <a:rPr lang="en" dirty="0">
                <a:solidFill>
                  <a:srgbClr val="FFFFFF"/>
                </a:solidFill>
                <a:latin typeface="Montserrat"/>
                <a:ea typeface="Montserrat"/>
                <a:cs typeface="Montserrat"/>
                <a:sym typeface="Montserrat"/>
              </a:rPr>
              <a:t>PCA algorithm</a:t>
            </a:r>
            <a:endParaRPr dirty="0">
              <a:solidFill>
                <a:srgbClr val="FFFFFF"/>
              </a:solidFill>
              <a:latin typeface="Montserrat"/>
              <a:ea typeface="Montserrat"/>
              <a:cs typeface="Montserrat"/>
              <a:sym typeface="Montserrat"/>
            </a:endParaRPr>
          </a:p>
        </p:txBody>
      </p:sp>
      <p:pic>
        <p:nvPicPr>
          <p:cNvPr id="3" name="Picture 2" descr="A diagram of a number of objects&#10;&#10;Description automatically generated">
            <a:extLst>
              <a:ext uri="{FF2B5EF4-FFF2-40B4-BE49-F238E27FC236}">
                <a16:creationId xmlns:a16="http://schemas.microsoft.com/office/drawing/2014/main" id="{FD1AF7A5-C6AA-C45E-9736-8A6180662302}"/>
              </a:ext>
            </a:extLst>
          </p:cNvPr>
          <p:cNvPicPr>
            <a:picLocks noChangeAspect="1"/>
          </p:cNvPicPr>
          <p:nvPr/>
        </p:nvPicPr>
        <p:blipFill>
          <a:blip r:embed="rId3"/>
          <a:stretch>
            <a:fillRect/>
          </a:stretch>
        </p:blipFill>
        <p:spPr>
          <a:xfrm>
            <a:off x="1246667" y="1017725"/>
            <a:ext cx="6650665" cy="4132214"/>
          </a:xfrm>
          <a:prstGeom prst="rect">
            <a:avLst/>
          </a:prstGeom>
        </p:spPr>
      </p:pic>
    </p:spTree>
    <p:extLst>
      <p:ext uri="{BB962C8B-B14F-4D97-AF65-F5344CB8AC3E}">
        <p14:creationId xmlns:p14="http://schemas.microsoft.com/office/powerpoint/2010/main" val="344317294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3568</TotalTime>
  <Words>1728</Words>
  <Application>Microsoft Macintosh PowerPoint</Application>
  <PresentationFormat>On-screen Show (16:9)</PresentationFormat>
  <Paragraphs>99</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Proxima Nova</vt:lpstr>
      <vt:lpstr>Arial</vt:lpstr>
      <vt:lpstr>Montserrat</vt:lpstr>
      <vt:lpstr>Simple Light</vt:lpstr>
      <vt:lpstr>PowerPoint Presentation</vt:lpstr>
      <vt:lpstr>SVD error</vt:lpstr>
      <vt:lpstr>SVD Error</vt:lpstr>
      <vt:lpstr>Principal Component Analysis (PCA)</vt:lpstr>
      <vt:lpstr>Principal Component Analysis (PCA)</vt:lpstr>
      <vt:lpstr>Data Correlation</vt:lpstr>
      <vt:lpstr>Principal Component Analysis (PCA)</vt:lpstr>
      <vt:lpstr>Principal Component Analysis (PCA)</vt:lpstr>
      <vt:lpstr>Principal Component Analysis (PCA)</vt:lpstr>
      <vt:lpstr>Principal Component Analysis (PCA)</vt:lpstr>
      <vt:lpstr>Principal Component Analysis (PCA)</vt:lpstr>
      <vt:lpstr>Principal Component Analysis (PCA)</vt:lpstr>
      <vt:lpstr>Principal Component Analysis (PCA)</vt:lpstr>
      <vt:lpstr>Principal Component Analysis (PCA)</vt:lpstr>
      <vt:lpstr>Principal Component Analysis (PCA)</vt:lpstr>
      <vt:lpstr>PCA algorithm</vt:lpstr>
      <vt:lpstr>PCA algorithm</vt:lpstr>
      <vt:lpstr>PCA algorithm</vt:lpstr>
      <vt:lpstr>PCA algorithm</vt:lpstr>
      <vt:lpstr>PCA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Rio</dc:creator>
  <cp:lastModifiedBy>Xie, Xuping</cp:lastModifiedBy>
  <cp:revision>35</cp:revision>
  <dcterms:modified xsi:type="dcterms:W3CDTF">2026-09-10T03:28:06Z</dcterms:modified>
</cp:coreProperties>
</file>